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572000" cy="4572000"/>
          </a:xfrm>
          <a:prstGeom prst="ellipse">
            <a:avLst/>
          </a:prstGeom>
          <a:solidFill>
            <a:srgbClr val="B85042">
              <a:alpha val="40000"/>
            </a:srgbClr>
          </a:solidFill>
          <a:ln w="12700">
            <a:solidFill>
              <a:srgbClr val="B8504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A7BEAE">
              <a:alpha val="28000"/>
            </a:srgbClr>
          </a:solidFill>
          <a:ln w="12700">
            <a:solidFill>
              <a:srgbClr val="A7BEAE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C89A3A">
              <a:alpha val="20000"/>
            </a:srgbClr>
          </a:solidFill>
          <a:ln w="12700">
            <a:solidFill>
              <a:srgbClr val="C89A3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008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ФАСИЛІТАЦІЯ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для тих, хто веде команди до результату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модулів · Від основ до брифінгу із замовником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10896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B85042">
              <a:alpha val="45000"/>
            </a:srgbClr>
          </a:solidFill>
          <a:ln w="12700">
            <a:solidFill>
              <a:srgbClr val="B85042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1089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Воркшоп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310896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B85042">
              <a:alpha val="45000"/>
            </a:srgbClr>
          </a:solidFill>
          <a:ln w="12700">
            <a:solidFill>
              <a:srgbClr val="B85042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1089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Брейншторм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9320" y="310896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B85042">
              <a:alpha val="45000"/>
            </a:srgbClr>
          </a:solidFill>
          <a:ln w="12700">
            <a:solidFill>
              <a:srgbClr val="B85042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31089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Сценарій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61188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B85042">
              <a:alpha val="45000"/>
            </a:srgbClr>
          </a:solidFill>
          <a:ln w="12700">
            <a:solidFill>
              <a:srgbClr val="B85042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118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WE 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61188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B85042">
              <a:alpha val="45000"/>
            </a:srgbClr>
          </a:solidFill>
          <a:ln w="12700">
            <a:solidFill>
              <a:srgbClr val="B85042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36118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Брифінг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361188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B85042">
              <a:alpha val="45000"/>
            </a:srgbClr>
          </a:solidFill>
          <a:ln w="12700">
            <a:solidFill>
              <a:srgbClr val="B85042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36118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Онлайн-платформи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Структура курсу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6583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51560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69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8992" y="102412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Фундаментальні засади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19072"/>
            <a:ext cx="54864" cy="658368"/>
          </a:xfrm>
          <a:prstGeom prst="rect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856232"/>
            <a:ext cx="384048" cy="384048"/>
          </a:xfrm>
          <a:prstGeom prst="ellipse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745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182880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Сценарій воркшопу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23744"/>
            <a:ext cx="54864" cy="6583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660904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791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263347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Відкриття воркшопу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2841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328416"/>
            <a:ext cx="54864" cy="658368"/>
          </a:xfrm>
          <a:prstGeom prst="rect">
            <a:avLst/>
          </a:prstGeom>
          <a:solidFill>
            <a:srgbClr val="C89A3A"/>
          </a:solidFill>
          <a:ln w="12700">
            <a:solidFill>
              <a:srgbClr val="C89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465576"/>
            <a:ext cx="384048" cy="384048"/>
          </a:xfrm>
          <a:prstGeom prst="ellipse">
            <a:avLst/>
          </a:prstGeom>
          <a:solidFill>
            <a:srgbClr val="C89A3A"/>
          </a:solidFill>
          <a:ln w="12700">
            <a:solidFill>
              <a:srgbClr val="C89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4838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343814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Актуалізація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13308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133088"/>
            <a:ext cx="54864" cy="658368"/>
          </a:xfrm>
          <a:prstGeom prst="rect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270248"/>
            <a:ext cx="384048" cy="384048"/>
          </a:xfrm>
          <a:prstGeom prst="ellipse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28853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8992" y="4242816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Генерація ідей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91440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914400"/>
            <a:ext cx="54864" cy="658368"/>
          </a:xfrm>
          <a:prstGeom prst="rect">
            <a:avLst/>
          </a:prstGeom>
          <a:solidFill>
            <a:srgbClr val="7B3F5E"/>
          </a:solidFill>
          <a:ln w="12700">
            <a:solidFill>
              <a:srgbClr val="7B3F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83480" y="1051560"/>
            <a:ext cx="384048" cy="384048"/>
          </a:xfrm>
          <a:prstGeom prst="ellipse">
            <a:avLst/>
          </a:prstGeom>
          <a:solidFill>
            <a:srgbClr val="7B3F5E"/>
          </a:solidFill>
          <a:ln w="12700">
            <a:solidFill>
              <a:srgbClr val="7B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1069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68112" y="102412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 ідей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171907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1719072"/>
            <a:ext cx="54864" cy="6583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3480" y="185623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18745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68112" y="182880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П'ятий–сьомий етапи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46320" y="252374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2523744"/>
            <a:ext cx="54864" cy="658368"/>
          </a:xfrm>
          <a:prstGeom prst="rect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83480" y="2660904"/>
            <a:ext cx="384048" cy="384048"/>
          </a:xfrm>
          <a:prstGeom prst="ellipse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26791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68112" y="263347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Проєктування сценарію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46320" y="332841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46320" y="3328416"/>
            <a:ext cx="54864" cy="658368"/>
          </a:xfrm>
          <a:prstGeom prst="rect">
            <a:avLst/>
          </a:prstGeom>
          <a:solidFill>
            <a:srgbClr val="C89A3A"/>
          </a:solidFill>
          <a:ln w="12700">
            <a:solidFill>
              <a:srgbClr val="C89A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83480" y="3465576"/>
            <a:ext cx="384048" cy="384048"/>
          </a:xfrm>
          <a:prstGeom prst="ellipse">
            <a:avLst/>
          </a:prstGeom>
          <a:solidFill>
            <a:srgbClr val="C89A3A"/>
          </a:solidFill>
          <a:ln w="12700">
            <a:solidFill>
              <a:srgbClr val="C89A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34838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68112" y="343814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Онлайн-платформи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846320" y="413308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46320" y="4133088"/>
            <a:ext cx="54864" cy="658368"/>
          </a:xfrm>
          <a:prstGeom prst="rect">
            <a:avLst/>
          </a:prstGeom>
          <a:solidFill>
            <a:srgbClr val="7B3F5E"/>
          </a:solidFill>
          <a:ln w="12700">
            <a:solidFill>
              <a:srgbClr val="7B3F5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83480" y="4270248"/>
            <a:ext cx="384048" cy="384048"/>
          </a:xfrm>
          <a:prstGeom prst="ellipse">
            <a:avLst/>
          </a:prstGeom>
          <a:solidFill>
            <a:srgbClr val="7B3F5E"/>
          </a:solidFill>
          <a:ln w="12700">
            <a:solidFill>
              <a:srgbClr val="7B3F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83480" y="428853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68112" y="4242816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Брифінг із замовником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D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A7BEAE">
              <a:alpha val="22000"/>
            </a:srgbClr>
          </a:solidFill>
          <a:ln w="12700">
            <a:solidFill>
              <a:srgbClr val="A7BEAE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B85042">
              <a:alpha val="18000"/>
            </a:srgbClr>
          </a:solidFill>
          <a:ln w="12700">
            <a:solidFill>
              <a:srgbClr val="B85042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772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7BE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МОДУЛЬ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Фундаментальні засади фасилітації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9718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таке фасилітація, коли її використовувати та яка роль фасилітатора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20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Що таке фасилітація?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1005840"/>
          </a:xfrm>
          <a:prstGeom prst="rect">
            <a:avLst/>
          </a:prstGeom>
          <a:solidFill>
            <a:srgbClr val="B85042">
              <a:alpha val="12000"/>
            </a:srgbClr>
          </a:solidFill>
          <a:ln w="12700">
            <a:solidFill>
              <a:srgbClr val="B85042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5C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Фасилітація — це мистецтво структурованого ведення групи до спільного результату,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C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фасилітатор є провідником процесу, а не змісту.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Коли використовувати фасилітацію: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15768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715768"/>
            <a:ext cx="64008" cy="7498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072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Стратегічні сесії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118104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Визначення напряму розвитку, цілей, пріоритетів компанії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2715768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2715768"/>
            <a:ext cx="64008" cy="749808"/>
          </a:xfrm>
          <a:prstGeom prst="rect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8072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Командні воркшопи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3118104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Вирішення конкретних задач, генерація ідей, прийняття рішень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584448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584448"/>
            <a:ext cx="64008" cy="749808"/>
          </a:xfrm>
          <a:prstGeom prst="rect">
            <a:avLst/>
          </a:prstGeom>
          <a:solidFill>
            <a:srgbClr val="C89A3A"/>
          </a:solidFill>
          <a:ln w="12700">
            <a:solidFill>
              <a:srgbClr val="C89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758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Ретроспективи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986784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пройденого шляху та пошук покращень у процесах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3584448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584448"/>
            <a:ext cx="64008" cy="749808"/>
          </a:xfrm>
          <a:prstGeom prst="rect">
            <a:avLst/>
          </a:prstGeom>
          <a:solidFill>
            <a:srgbClr val="7B3F5E"/>
          </a:solidFill>
          <a:ln w="12700">
            <a:solidFill>
              <a:srgbClr val="7B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6758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Мозкові штурми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3986784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нестандартних рішень складних проблем у команді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20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Компетенції та позиція фасилітатора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64008" cy="1097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344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Нейтральність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45336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Фасилітатор не має власного інтересу до змісту рішень. Він слугує процесу.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43000"/>
            <a:ext cx="64008" cy="1097280"/>
          </a:xfrm>
          <a:prstGeom prst="rect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2344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Активне слухання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545336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Чути сказане, несказане і почуте — три рівні сприйняття.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77440"/>
            <a:ext cx="64008" cy="1097280"/>
          </a:xfrm>
          <a:prstGeom prst="rect">
            <a:avLst/>
          </a:prstGeom>
          <a:solidFill>
            <a:srgbClr val="C89A3A"/>
          </a:solidFill>
          <a:ln w="12700">
            <a:solidFill>
              <a:srgbClr val="C89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6888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Структурування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779776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Перетворення хаосу думок на зрозуміму логіку руху до результату.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237744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377440"/>
            <a:ext cx="64008" cy="1097280"/>
          </a:xfrm>
          <a:prstGeom prst="rect">
            <a:avLst/>
          </a:prstGeom>
          <a:solidFill>
            <a:srgbClr val="7B3F5E"/>
          </a:solidFill>
          <a:ln w="12700">
            <a:solidFill>
              <a:srgbClr val="7B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46888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Залучення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779776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учасник має бути почутим. Фасилітатор «витягує» тихих і баламутить тих, хто домінує.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611880"/>
            <a:ext cx="64008" cy="109728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70332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Управління енергією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014216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Відчувати ритм групи й регулювати темп, формат та паузи.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61188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611880"/>
            <a:ext cx="64008" cy="1097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70332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Довіра до процесу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4014216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Вірити в те, що правильна структура приводить до правильного результату.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D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C89A3A">
              <a:alpha val="22000"/>
            </a:srgbClr>
          </a:solidFill>
          <a:ln w="12700">
            <a:solidFill>
              <a:srgbClr val="C89A3A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B85042">
              <a:alpha val="18000"/>
            </a:srgbClr>
          </a:solidFill>
          <a:ln w="12700">
            <a:solidFill>
              <a:srgbClr val="B85042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772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9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МОДУЛЬ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Універсальний сценарій воркшопу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9718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етапів, ME WE US та логіка руху від точки А до результату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20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етапів воркшопу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754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70432"/>
            <a:ext cx="54864" cy="7498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35024"/>
            <a:ext cx="347472" cy="34747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4416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42416" y="12070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Відкриття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42416" y="14813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середовища, знайомство, налаштування на роботу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066544"/>
            <a:ext cx="4754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66544"/>
            <a:ext cx="54864" cy="749808"/>
          </a:xfrm>
          <a:prstGeom prst="rect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231136"/>
            <a:ext cx="347472" cy="347472"/>
          </a:xfrm>
          <a:prstGeom prst="ellipse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4028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2416" y="21031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Актуалізація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42416" y="23774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Дослідження поточної ситуації, спільне розуміння проблеми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962656"/>
            <a:ext cx="4754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62656"/>
            <a:ext cx="54864" cy="749808"/>
          </a:xfrm>
          <a:prstGeom prst="rect">
            <a:avLst/>
          </a:prstGeom>
          <a:solidFill>
            <a:srgbClr val="C89A3A"/>
          </a:solidFill>
          <a:ln w="12700">
            <a:solidFill>
              <a:srgbClr val="C89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127248"/>
            <a:ext cx="347472" cy="347472"/>
          </a:xfrm>
          <a:prstGeom prst="ellipse">
            <a:avLst/>
          </a:prstGeom>
          <a:solidFill>
            <a:srgbClr val="C89A3A"/>
          </a:solidFill>
          <a:ln w="12700">
            <a:solidFill>
              <a:srgbClr val="C89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363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42416" y="29992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Генерація ідей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42416" y="32735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Брейншторм, творче мислення, пошук нестандартних рішень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858768"/>
            <a:ext cx="4754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858768"/>
            <a:ext cx="54864" cy="749808"/>
          </a:xfrm>
          <a:prstGeom prst="rect">
            <a:avLst/>
          </a:prstGeom>
          <a:solidFill>
            <a:srgbClr val="7B3F5E"/>
          </a:solidFill>
          <a:ln w="12700">
            <a:solidFill>
              <a:srgbClr val="7B3F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023360"/>
            <a:ext cx="347472" cy="347472"/>
          </a:xfrm>
          <a:prstGeom prst="ellipse">
            <a:avLst/>
          </a:prstGeom>
          <a:solidFill>
            <a:srgbClr val="7B3F5E"/>
          </a:solidFill>
          <a:ln w="12700">
            <a:solidFill>
              <a:srgbClr val="7B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03250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42416" y="38953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Вибір ідей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42416" y="416966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Пріоритизація, голосування, відбір найкращих варіантів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394960" y="1170432"/>
            <a:ext cx="32918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94960" y="1170432"/>
            <a:ext cx="3291840" cy="402336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12435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Проєкти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0" y="166420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Перетворення ідей на конкретні проєкти з власниками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94960" y="2432304"/>
            <a:ext cx="32918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94960" y="2432304"/>
            <a:ext cx="3291840" cy="40233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25054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План дій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0" y="29260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Деталізація кроків, відповідальних і термінів виконання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394960" y="3694176"/>
            <a:ext cx="32918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7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94960" y="3694176"/>
            <a:ext cx="3291840" cy="402336"/>
          </a:xfrm>
          <a:prstGeom prst="rect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3767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 Закриття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0" y="418795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Підбивання підсумків, рефлексія, фіксація домовленостей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20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Ритм фасилітації: технологія ME WE US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15568"/>
            <a:ext cx="265176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5214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Індивідуально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084832"/>
            <a:ext cx="234086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учасник самостійно розмірковує над питанням. Мовчання — це робота.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Ціль: активувати власну думку до колективного обговорення.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0128" y="1115568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115568"/>
            <a:ext cx="2651760" cy="502920"/>
          </a:xfrm>
          <a:prstGeom prst="rect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15214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1719072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 малих групах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084832"/>
            <a:ext cx="234086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Обговорення в парах або трійках. Думки зустрічаються, кристалізуються.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Ціль: знайти спільне і відмінне в поглядах.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63056" y="1115568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115568"/>
            <a:ext cx="2651760" cy="502920"/>
          </a:xfrm>
          <a:prstGeom prst="rect">
            <a:avLst/>
          </a:prstGeom>
          <a:solidFill>
            <a:srgbClr val="C89A3A"/>
          </a:solidFill>
          <a:ln w="12700">
            <a:solidFill>
              <a:srgbClr val="C89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15214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27648" y="1719072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Усі разом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7648" y="2084832"/>
            <a:ext cx="234086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Плenary: малі групи ділять висновки з усіма. Фасилітатор структурує загальну картину.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Ціль: синтез і рішення на рівні всієї групи.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736592"/>
            <a:ext cx="8229600" cy="34747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73659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WE US гарантує, що кожен учасник висловиться, а рішення буде дійсно колективним.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D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A7BEAE">
              <a:alpha val="22000"/>
            </a:srgbClr>
          </a:solidFill>
          <a:ln w="12700">
            <a:solidFill>
              <a:srgbClr val="A7BEAE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B85042">
              <a:alpha val="18000"/>
            </a:srgbClr>
          </a:solidFill>
          <a:ln w="12700">
            <a:solidFill>
              <a:srgbClr val="B85042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772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7BE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МОДУЛЬ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Перший етап воркшопу: Відкриття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9718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створити середовище для продуктивної взаємодії з перших хвилин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20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Як відкривати воркшоп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70432"/>
            <a:ext cx="54864" cy="6583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07592"/>
            <a:ext cx="329184" cy="32918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1673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" y="12161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Встановити безпечний простір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42416" y="1481328"/>
            <a:ext cx="6629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Учасники мають відчути: тут можна говорити відверто, немає «правильних» і «неправильних» відповідей.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20240"/>
            <a:ext cx="54864" cy="658368"/>
          </a:xfrm>
          <a:prstGeom prst="rect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057400"/>
            <a:ext cx="329184" cy="329184"/>
          </a:xfrm>
          <a:prstGeom prst="ellipse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06654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19659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Прояснити мету та очікування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2416" y="2231136"/>
            <a:ext cx="6629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Чітко назвати: навіщо ми тут, що ми зробимо, і що кожен отримає на виході.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670048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670048"/>
            <a:ext cx="54864" cy="658368"/>
          </a:xfrm>
          <a:prstGeom prst="rect">
            <a:avLst/>
          </a:prstGeom>
          <a:solidFill>
            <a:srgbClr val="C89A3A"/>
          </a:solidFill>
          <a:ln w="12700">
            <a:solidFill>
              <a:srgbClr val="C89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807208"/>
            <a:ext cx="329184" cy="329184"/>
          </a:xfrm>
          <a:prstGeom prst="ellipse">
            <a:avLst/>
          </a:prstGeom>
          <a:solidFill>
            <a:srgbClr val="C89A3A"/>
          </a:solidFill>
          <a:ln w="12700">
            <a:solidFill>
              <a:srgbClr val="C89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81635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42416" y="27157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Озвучити правила взаємодії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42416" y="2980944"/>
            <a:ext cx="6629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Домовленості: один говорить, телефони убік, критику — пізніше, повага до всіх думок.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419856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419856"/>
            <a:ext cx="54864" cy="658368"/>
          </a:xfrm>
          <a:prstGeom prst="rect">
            <a:avLst/>
          </a:prstGeom>
          <a:solidFill>
            <a:srgbClr val="7B3F5E"/>
          </a:solidFill>
          <a:ln w="12700">
            <a:solidFill>
              <a:srgbClr val="7B3F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557016"/>
            <a:ext cx="329184" cy="329184"/>
          </a:xfrm>
          <a:prstGeom prst="ellipse">
            <a:avLst/>
          </a:prstGeom>
          <a:solidFill>
            <a:srgbClr val="7B3F5E"/>
          </a:solidFill>
          <a:ln w="12700">
            <a:solidFill>
              <a:srgbClr val="7B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56616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42416" y="34655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Познайомити учасників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42416" y="3730752"/>
            <a:ext cx="6629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Навіть якщо люди знають одне одного — «розморожування» переводить їх у режим взаємодії.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169664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169664"/>
            <a:ext cx="54864" cy="65836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4306824"/>
            <a:ext cx="329184" cy="329184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31596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42416" y="42153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Налаштувати на роботу (Check-In)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42416" y="4480560"/>
            <a:ext cx="6629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Коротке запитання, що запрошує кожного висловитись і «увійти» в сесію.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C89A3A">
              <a:alpha val="22000"/>
            </a:srgbClr>
          </a:solidFill>
          <a:ln w="12700">
            <a:solidFill>
              <a:srgbClr val="C89A3A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B85042">
              <a:alpha val="18000"/>
            </a:srgbClr>
          </a:solidFill>
          <a:ln w="12700">
            <a:solidFill>
              <a:srgbClr val="B85042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772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9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МОДУЛЬ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Другий етап воркшопу: Актуалізація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9718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Дослідити поточну ситуацію та створити спільне розуміння проблеми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C89A3A"/>
          </a:solidFill>
          <a:ln w="12700">
            <a:solidFill>
              <a:srgbClr val="C89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20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Актуалізація: що і навіщо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5C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актуалізації — перевести всіх учасників у єдину «точку А»: однакове розуміння реальності та потреби в змінах.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Інструменти фасилітації для актуалізації: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48840"/>
            <a:ext cx="64008" cy="1170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4028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Карта поточного стану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51176"/>
            <a:ext cx="37947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Учасники малюють або описують «як є» — проблеми, бар'єри, ресурси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2148840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2148840"/>
            <a:ext cx="64008" cy="1170432"/>
          </a:xfrm>
          <a:prstGeom prst="rect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24028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World Café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2551176"/>
            <a:ext cx="37947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Ротаційні столи для глибокого вивчення різних аспектів проблеми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447288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447288"/>
            <a:ext cx="64008" cy="1170432"/>
          </a:xfrm>
          <a:prstGeom prst="rect">
            <a:avLst/>
          </a:prstGeom>
          <a:solidFill>
            <a:srgbClr val="C89A3A"/>
          </a:solidFill>
          <a:ln w="12700">
            <a:solidFill>
              <a:srgbClr val="C89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3872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Fishbone (Ішикава)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849624"/>
            <a:ext cx="37947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Структурований аналіз причин і наслідків проблемної ситуації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3447288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447288"/>
            <a:ext cx="64008" cy="1170432"/>
          </a:xfrm>
          <a:prstGeom prst="rect">
            <a:avLst/>
          </a:prstGeom>
          <a:solidFill>
            <a:srgbClr val="7B3F5E"/>
          </a:solidFill>
          <a:ln w="12700">
            <a:solidFill>
              <a:srgbClr val="7B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53872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Опитування-розминка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3849624"/>
            <a:ext cx="37947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Швидке Mentimeter-голосування для діагностики розуміння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736592"/>
            <a:ext cx="8229600" cy="347472"/>
          </a:xfrm>
          <a:prstGeom prst="rect">
            <a:avLst/>
          </a:prstGeom>
          <a:solidFill>
            <a:srgbClr val="C89A3A"/>
          </a:solidFill>
          <a:ln w="12700">
            <a:solidFill>
              <a:srgbClr val="C89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73659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Ключове питання актуалізації: «Що нас привело сюди і чому це важливо вирішити саме зараз?»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D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4A7C74">
              <a:alpha val="22000"/>
            </a:srgbClr>
          </a:solidFill>
          <a:ln w="12700">
            <a:solidFill>
              <a:srgbClr val="4A7C74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B85042">
              <a:alpha val="18000"/>
            </a:srgbClr>
          </a:solidFill>
          <a:ln w="12700">
            <a:solidFill>
              <a:srgbClr val="B85042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772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A7C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МОДУЛЬ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Третій етап воркшопу: Генерація ідей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9718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 проривного брейншторму та техніка безпеки від критики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20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Секрет проривного брейншторму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правил ефективного брейншторму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81328"/>
            <a:ext cx="54864" cy="5943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17904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Кількість понад якість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Спочатку якомога більше ідей — оцінка потім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67128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67128"/>
            <a:ext cx="54864" cy="594360"/>
          </a:xfrm>
          <a:prstGeom prst="rect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03704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Заборона критики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4231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«Ні» — табу. Ніяких «але», «це не спрацює»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52928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52928"/>
            <a:ext cx="54864" cy="594360"/>
          </a:xfrm>
          <a:prstGeom prst="rect">
            <a:avLst/>
          </a:prstGeom>
          <a:solidFill>
            <a:srgbClr val="C89A3A"/>
          </a:solidFill>
          <a:ln w="12700">
            <a:solidFill>
              <a:srgbClr val="C89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89504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Вільні асоціації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1089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Навіть безглузді ідеї можуть стати відправною точкою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38728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538728"/>
            <a:ext cx="54864" cy="594360"/>
          </a:xfrm>
          <a:prstGeom prst="rect">
            <a:avLst/>
          </a:prstGeom>
          <a:solidFill>
            <a:srgbClr val="7B3F5E"/>
          </a:solidFill>
          <a:ln w="12700">
            <a:solidFill>
              <a:srgbClr val="7B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75304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Розвивайте чужі ідеї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7947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«Так, і...» замість «Так, але...»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24528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24528"/>
            <a:ext cx="54864" cy="59436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261104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Рівноправність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44805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Ідеї CEO та стажера мають однаковий статус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111556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Техніка безпеки від критики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257800" y="1481328"/>
            <a:ext cx="34747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257800" y="1481328"/>
            <a:ext cx="3474720" cy="402336"/>
          </a:xfrm>
          <a:prstGeom prst="rect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76672" y="1527048"/>
            <a:ext cx="3236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Як зупиняти критику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1975104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Назвати правило перед початком: «Зараз — зона без оцінок»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94960" y="2688336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Використати гумор: «Це чудова думка для оцінки! Але спочатку ще ідеї»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94960" y="3401568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Фізичний символ: карточка «СТОП-критика» на столі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394960" y="4114800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Переформатувати: «Які умови потрібні, щоб ця ідея спрацювала?»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D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7B3F5E">
              <a:alpha val="22000"/>
            </a:srgbClr>
          </a:solidFill>
          <a:ln w="12700">
            <a:solidFill>
              <a:srgbClr val="7B3F5E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B85042">
              <a:alpha val="18000"/>
            </a:srgbClr>
          </a:solidFill>
          <a:ln w="12700">
            <a:solidFill>
              <a:srgbClr val="B85042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772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МОДУЛЬ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Четвертий етап воркшопу: Вибір ідей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9718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Інструменти пріоритизації та голосування за ТОПові рішення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7B3F5E"/>
          </a:solidFill>
          <a:ln w="12700">
            <a:solidFill>
              <a:srgbClr val="7B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20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Інструменти вибору та пріоритизації ідей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15568"/>
            <a:ext cx="64008" cy="1170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070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Dot Voting (Крапки)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17904"/>
            <a:ext cx="37947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учасник отримує 3-5 наліпок і розміщує їх на ідеях, що сподобались. Ідеї з найбільшою кількістю крапок — ТОП.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115568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15568"/>
            <a:ext cx="64008" cy="1170432"/>
          </a:xfrm>
          <a:prstGeom prst="rect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2070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Матриця «Цінність / Зусилля»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517904"/>
            <a:ext cx="37947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Ідеї розміщуються на осях «Цінність для бізнесу» та «Зусилля реалізації». Фокус на ідеях з високою цінністю і малими зусиллями.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414016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14016"/>
            <a:ext cx="64008" cy="1170432"/>
          </a:xfrm>
          <a:prstGeom prst="rect">
            <a:avLst/>
          </a:prstGeom>
          <a:solidFill>
            <a:srgbClr val="C89A3A"/>
          </a:solidFill>
          <a:ln w="12700">
            <a:solidFill>
              <a:srgbClr val="C89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0545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N/3 голосування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816352"/>
            <a:ext cx="37947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голосує за кількість ідей = загальна кількість / 3. Простий і швидкий спосіб звузити список.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2414016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414016"/>
            <a:ext cx="64008" cy="1170432"/>
          </a:xfrm>
          <a:prstGeom prst="rect">
            <a:avLst/>
          </a:prstGeom>
          <a:solidFill>
            <a:srgbClr val="7B3F5E"/>
          </a:solidFill>
          <a:ln w="12700">
            <a:solidFill>
              <a:srgbClr val="7B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50545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Paired Comparison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816352"/>
            <a:ext cx="37947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ідея порівнюється з кожною інші у двобою. Найстабільніша ідея перемагає.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712464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712464"/>
            <a:ext cx="64008" cy="1170432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0390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Fist to Five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114800"/>
            <a:ext cx="37947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Ідею оцінюють від 0 (кулак = проти) до 5 (всі пальці = повністю за). Видно одразу, де консенсус.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712464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712464"/>
            <a:ext cx="64008" cy="1170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80390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/ Risk Matrix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4114800"/>
            <a:ext cx="37947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Оцінка за критеріями впливу та ризику. Підходить для стратегічних рішень.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D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A7BEAE">
              <a:alpha val="22000"/>
            </a:srgbClr>
          </a:solidFill>
          <a:ln w="12700">
            <a:solidFill>
              <a:srgbClr val="A7BEAE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B85042">
              <a:alpha val="18000"/>
            </a:srgbClr>
          </a:solidFill>
          <a:ln w="12700">
            <a:solidFill>
              <a:srgbClr val="B85042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772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7BE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МОДУЛЬ 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П'ятий, шостий та сьомий етапи воркшопу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9718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ідей до конкретних проєктів, планів дій та закриття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20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Етапи 5, 6, 7 — від ідей до зобов'язань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70432"/>
            <a:ext cx="2651760" cy="420624"/>
          </a:xfrm>
          <a:prstGeom prst="rect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43584"/>
            <a:ext cx="27432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527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126187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Перетворення ідей на проєкти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682496"/>
            <a:ext cx="2423160" cy="2916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обрана ідея отримує «власника» і перетворюється на мінімальний проєкт з метою, командою та першим кроком.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Інструменти: Project Canvas, Lean Canvas, шаблон «ідея → проєкт»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0128" y="1170432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170432"/>
            <a:ext cx="2651760" cy="420624"/>
          </a:xfrm>
          <a:prstGeom prst="rect">
            <a:avLst/>
          </a:prstGeom>
          <a:solidFill>
            <a:srgbClr val="C89A3A"/>
          </a:solidFill>
          <a:ln w="12700">
            <a:solidFill>
              <a:srgbClr val="C89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9856" y="1243584"/>
            <a:ext cx="27432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9856" y="12527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85616" y="126187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План дій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47288" y="1682496"/>
            <a:ext cx="2423160" cy="2916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проєкт деталізується у конкретний план: хто, що, до коли.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Інструменти: Action Planning Grid, Gantt-лайт, метод RACI.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63056" y="1170432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1170432"/>
            <a:ext cx="2651760" cy="42062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1243584"/>
            <a:ext cx="27432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2527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38544" y="126187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Закриття воркшопу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0216" y="1682496"/>
            <a:ext cx="2423160" cy="2916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Підбивання підсумків, артикуляція домовленостей, рефлексія процесу.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Інструменти: Check-Out, зворотній зв'язок «Плюс-Delta», Rose-Bud-Thorn.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828032"/>
            <a:ext cx="8229600" cy="34747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82803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відповідальності — ключовий принцип 5-го етапу. Учасники «привласнюють» результат через особисте зобов'язання.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D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B85042">
              <a:alpha val="22000"/>
            </a:srgbClr>
          </a:solidFill>
          <a:ln w="12700">
            <a:solidFill>
              <a:srgbClr val="B85042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B85042">
              <a:alpha val="18000"/>
            </a:srgbClr>
          </a:solidFill>
          <a:ln w="12700">
            <a:solidFill>
              <a:srgbClr val="B85042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772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50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МОДУЛЬ 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Проєктування сценарію сесії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9718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фокусу, рефлексія, «міст» між етапами та 4 сценарії воркшопу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20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Як проєктувати сценарій воркшопу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690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64008" cy="15361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344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Питання фокусу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45336"/>
            <a:ext cx="3794760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кожного етапу — одне ключове питання, яке спрямовує мислення учасників. Добре питання веде до потрібного висновку природно, без примусу.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0690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43000"/>
            <a:ext cx="64008" cy="1536192"/>
          </a:xfrm>
          <a:prstGeom prst="rect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2344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Підбір інструментів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545336"/>
            <a:ext cx="3794760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Інструмент відповідає меті етапу та типу групи. Чим вища довіра — тим відкритіший формат. Чим менше часу — тим структурованіший метод.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07208"/>
            <a:ext cx="40690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07208"/>
            <a:ext cx="64008" cy="1536192"/>
          </a:xfrm>
          <a:prstGeom prst="rect">
            <a:avLst/>
          </a:prstGeom>
          <a:solidFill>
            <a:srgbClr val="C89A3A"/>
          </a:solidFill>
          <a:ln w="12700">
            <a:solidFill>
              <a:srgbClr val="C89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9864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Рефлексія після етапу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209544"/>
            <a:ext cx="3794760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«Що ми щойно зробили? Що це означає для нас?» — 2-3 хв. після кожного блоку, щоб учасники «привласнили» висновки.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2807208"/>
            <a:ext cx="40690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807208"/>
            <a:ext cx="64008" cy="1536192"/>
          </a:xfrm>
          <a:prstGeom prst="rect">
            <a:avLst/>
          </a:prstGeom>
          <a:solidFill>
            <a:srgbClr val="7B3F5E"/>
          </a:solidFill>
          <a:ln w="12700">
            <a:solidFill>
              <a:srgbClr val="7B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89864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«Міст» між етапами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3209544"/>
            <a:ext cx="3794760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Коротке резюме попереднього + анонс наступного: «Ми визначили X. Тепер нам потрібно зробити Y — давайте разом...»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61772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сценарії під різні запити: стратегічна сесія · ретроспектива · проблемне рішення · розробка продукту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D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4A7C74">
              <a:alpha val="22000"/>
            </a:srgbClr>
          </a:solidFill>
          <a:ln w="12700">
            <a:solidFill>
              <a:srgbClr val="4A7C74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B85042">
              <a:alpha val="18000"/>
            </a:srgbClr>
          </a:solidFill>
          <a:ln w="12700">
            <a:solidFill>
              <a:srgbClr val="B85042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772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A7C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МОДУЛЬ 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Онлайн-платформи для фасилітації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9718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Zoom, Miro, Padlet та Mentimeter — інструменти залучення в онлайні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20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Цифровий арсенал фасилітатора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15568"/>
            <a:ext cx="265176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61288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Відеоконференції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938528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Rooms — малі групи для ME WE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468880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— спільна дошка в реальному часі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999232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— миттєве голосування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3529584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— зворотний зв'язок без переривання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4059936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— виділити доповідача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10128" y="1115568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0128" y="1115568"/>
            <a:ext cx="2651760" cy="457200"/>
          </a:xfrm>
          <a:prstGeom prst="rect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9856" y="1161288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Miro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19856" y="16459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C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Колаборація на канбан-дошці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19856" y="1938528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notes — мозковий штурм онлайн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19856" y="2468880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— вбудоване голосування за стікерами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19856" y="2999232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— готові шаблони для ретро, SWOT, канвасів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19856" y="3529584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— відлік часу для завдань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19856" y="4059936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Презентаційний режим для показу результатів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63056" y="1115568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63056" y="1115568"/>
            <a:ext cx="2651760" cy="457200"/>
          </a:xfrm>
          <a:prstGeom prst="rect">
            <a:avLst/>
          </a:prstGeom>
          <a:solidFill>
            <a:srgbClr val="C89A3A"/>
          </a:solidFill>
          <a:ln w="12700">
            <a:solidFill>
              <a:srgbClr val="C89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1161288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Mentimeter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72784" y="16459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9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Інтерактивні опитування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72784" y="1938528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Cloud — хмара слів для брейншторму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72784" y="2468880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— шкали для оцінки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72784" y="2999232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Text — відкриті відповіді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72784" y="3529584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ігрові вікторини для Check-In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72784" y="4059936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— пріоритизація в реальному часі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D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7B3F5E">
              <a:alpha val="22000"/>
            </a:srgbClr>
          </a:solidFill>
          <a:ln w="12700">
            <a:solidFill>
              <a:srgbClr val="7B3F5E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B85042">
              <a:alpha val="18000"/>
            </a:srgbClr>
          </a:solidFill>
          <a:ln w="12700">
            <a:solidFill>
              <a:srgbClr val="B85042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772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B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МОДУЛЬ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Брифінг із замовником воркшопу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9718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«6 Р», контрактування та рольова модель фасилітатора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7B3F5E"/>
          </a:solidFill>
          <a:ln w="12700">
            <a:solidFill>
              <a:srgbClr val="7B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20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Модель «6 Р»: виявлення запиту замовника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Послідовні коучингові питання, що розкривають справжній запит за поверхнею «нам потрібен тімбілдинг»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27632"/>
            <a:ext cx="54864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007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R1 — Result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9339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Який результат ви хочете отримати після воркшопу?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627632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627632"/>
            <a:ext cx="54864" cy="914400"/>
          </a:xfrm>
          <a:prstGeom prst="rect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7007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R2 — Reality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99339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відбувається зараз? В чому суть проблеми, що треба вирішити?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679192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79192"/>
            <a:ext cx="54864" cy="914400"/>
          </a:xfrm>
          <a:prstGeom prst="rect">
            <a:avLst/>
          </a:prstGeom>
          <a:solidFill>
            <a:srgbClr val="C89A3A"/>
          </a:solidFill>
          <a:ln w="12700">
            <a:solidFill>
              <a:srgbClr val="C89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523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R3 — Reason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04495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це важливо вирішити саме зараз? Які наслідки бездіяльності?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679192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679192"/>
            <a:ext cx="54864" cy="914400"/>
          </a:xfrm>
          <a:prstGeom prst="rect">
            <a:avLst/>
          </a:prstGeom>
          <a:solidFill>
            <a:srgbClr val="7B3F5E"/>
          </a:solidFill>
          <a:ln w="12700">
            <a:solidFill>
              <a:srgbClr val="7B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7523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R4 — Resources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304495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Хто буде на сесії? Який час, простір та бюджет доступні?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730752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730752"/>
            <a:ext cx="54864" cy="9144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039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BE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R5 — Risks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09651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може піти не так? Які чутливі теми або конфлікти в команді?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3730752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730752"/>
            <a:ext cx="54864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8039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R6 — Relationship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409651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Яка ваша роль у цьому запиті? Що залежить особисто від вас?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7B3F5E"/>
          </a:solidFill>
          <a:ln w="12700">
            <a:solidFill>
              <a:srgbClr val="7B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20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МОДУЛЬ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Контрактування із замовником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Після брифінгу — чітка домовленість щодо трьох осей: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2651760" cy="42062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45920"/>
            <a:ext cx="27432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550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166420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Мета воркшопу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084832"/>
            <a:ext cx="2423160" cy="2002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Конкретний, вимірюваний результат, який команда отримає по завершенні сесії. Не «обговорити стратегію», а «узгодити 3 стратегічні пріоритети на рік».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0128" y="1572768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1572768"/>
            <a:ext cx="2651760" cy="420624"/>
          </a:xfrm>
          <a:prstGeom prst="rect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19856" y="1645920"/>
            <a:ext cx="27432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9856" y="16550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85616" y="166420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Сценарій та формат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47288" y="2084832"/>
            <a:ext cx="2423160" cy="2002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 модулі, скільки часу, яка структура. Замовник підтверджує логіку до початку.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572768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1572768"/>
            <a:ext cx="2651760" cy="420624"/>
          </a:xfrm>
          <a:prstGeom prst="rect">
            <a:avLst/>
          </a:prstGeom>
          <a:solidFill>
            <a:srgbClr val="C89A3A"/>
          </a:solidFill>
          <a:ln w="12700">
            <a:solidFill>
              <a:srgbClr val="C89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2784" y="1645920"/>
            <a:ext cx="274320" cy="2743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16550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38544" y="166420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Взаємні зобов'язання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0216" y="2084832"/>
            <a:ext cx="2423160" cy="2002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робить замовник (підготовка учасників, надання даних, пунктуальність), що робите ви (підготовка, ведення, резюме).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315968"/>
            <a:ext cx="8229600" cy="749808"/>
          </a:xfrm>
          <a:prstGeom prst="rect">
            <a:avLst/>
          </a:prstGeom>
          <a:solidFill>
            <a:srgbClr val="7B3F5E">
              <a:alpha val="12000"/>
            </a:srgbClr>
          </a:solidFill>
          <a:ln w="12700">
            <a:solidFill>
              <a:srgbClr val="7B3F5E">
                <a:alpha val="1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370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Демонстраційна сесія брифінгу: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62686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Рольова гра — фасилітатор і замовник проходять весь 6P-брифінг. Група спостерігає, аналізує, дає зворотний зв'язок.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3D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4572000" cy="4572000"/>
          </a:xfrm>
          <a:prstGeom prst="ellipse">
            <a:avLst/>
          </a:prstGeom>
          <a:solidFill>
            <a:srgbClr val="B85042">
              <a:alpha val="40000"/>
            </a:srgbClr>
          </a:solidFill>
          <a:ln w="12700">
            <a:solidFill>
              <a:srgbClr val="B8504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A7BEAE">
              <a:alpha val="28000"/>
            </a:srgbClr>
          </a:solidFill>
          <a:ln w="12700">
            <a:solidFill>
              <a:srgbClr val="A7BEAE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57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Ви готові вести групи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 результату!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45720" cy="6583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482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Засади та позиція фасилітатора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3408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Нейтральність, залучення, довіра до процесу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92040" y="2011680"/>
            <a:ext cx="45720" cy="658368"/>
          </a:xfrm>
          <a:prstGeom prst="rect">
            <a:avLst/>
          </a:prstGeom>
          <a:solidFill>
            <a:srgbClr val="4A7C74"/>
          </a:solidFill>
          <a:ln w="12700">
            <a:solidFill>
              <a:srgbClr val="4A7C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20482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етапів воркшопу + ME WE 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4920" y="23408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Універсальний сценарій від відкриття до закриття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926080"/>
            <a:ext cx="45720" cy="658368"/>
          </a:xfrm>
          <a:prstGeom prst="rect">
            <a:avLst/>
          </a:prstGeom>
          <a:solidFill>
            <a:srgbClr val="C89A3A"/>
          </a:solidFill>
          <a:ln w="12700">
            <a:solidFill>
              <a:srgbClr val="C89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626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Генерація, вибір, планування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2552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Брейншторм, пріоритизація, план дій з власниками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92040" y="2926080"/>
            <a:ext cx="45720" cy="658368"/>
          </a:xfrm>
          <a:prstGeom prst="rect">
            <a:avLst/>
          </a:prstGeom>
          <a:solidFill>
            <a:srgbClr val="7B3F5E"/>
          </a:solidFill>
          <a:ln w="12700">
            <a:solidFill>
              <a:srgbClr val="7B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29626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Проєктування та рефлексія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4920" y="32552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фокусу, «міст», 4 сценарії для різних запитів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3840480"/>
            <a:ext cx="45720" cy="65836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8770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Онлайн-інструменти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1696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· Miro · Padlet · Mentimeter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92040" y="3840480"/>
            <a:ext cx="45720" cy="6583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8770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Брифінг: модель 6 Р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41696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Виявлення запиту, контрактування, взаємні зобов'язання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4754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Фасилітатор не дає відповідей — він ставить правильні питання.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 з фасилітації</dc:title>
  <dc:subject>PptxGenJS Presentation</dc:subject>
  <dc:creator>Irina Derevianchenko</dc:creator>
  <cp:lastModifiedBy>Irina Derevianchenko</cp:lastModifiedBy>
  <cp:revision>1</cp:revision>
  <dcterms:created xsi:type="dcterms:W3CDTF">2026-04-30T07:44:18Z</dcterms:created>
  <dcterms:modified xsi:type="dcterms:W3CDTF">2026-04-30T07:44:18Z</dcterms:modified>
</cp:coreProperties>
</file>