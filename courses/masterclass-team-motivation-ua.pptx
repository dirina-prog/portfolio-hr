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45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320040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МОТИВАЦІЯ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КОМАНДИ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27432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ECEA"/>
                </a:solidFill>
              </a:rPr>
              <a:t>Майстер-клас · 6 тем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470"/>
                </a:solidFill>
              </a:rPr>
              <a:t>Система мотивації · Гроші та баланс · Грейди · Зміни · PAEI · Структура стимулювання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7470"/>
                </a:solidFill>
              </a:rPr>
              <a:t>Від теорії до практики: як будувати систему, що реально мотивує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Програма майстер-класу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6400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033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4128" y="10332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2A"/>
                </a:solidFill>
              </a:rPr>
              <a:t>Макетування системи мотивації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4630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470"/>
                </a:solidFill>
              </a:rPr>
              <a:t>Організаційна культура і нематеріальні фактори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64008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65192" y="10332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67528" y="10332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2A"/>
                </a:solidFill>
              </a:rPr>
              <a:t>Роль грошей у стимулюванні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67528" y="14630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470"/>
                </a:solidFill>
              </a:rPr>
              <a:t>Баланс матеріального та нематеріального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64008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3134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4128" y="2313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2A"/>
                </a:solidFill>
              </a:rPr>
              <a:t>Грейди та відкритість зарплат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274320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470"/>
                </a:solidFill>
              </a:rPr>
              <a:t>Досвід ринку та прозорість оплати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24028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64008" cy="107899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65192" y="23134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A5F"/>
                </a:solidFill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67528" y="2313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2A"/>
                </a:solidFill>
              </a:rPr>
              <a:t>Як змінити систему мотивації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67528" y="274320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470"/>
                </a:solidFill>
              </a:rPr>
              <a:t>Трансформація без конфліктів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64008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" y="35935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24128" y="35935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2A"/>
                </a:solidFill>
              </a:rPr>
              <a:t>PAEI-мотивація співробітників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402336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470"/>
                </a:solidFill>
              </a:rPr>
              <a:t>Підхід до кожного типу за Адізесом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352044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3520440"/>
            <a:ext cx="64008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65192" y="35935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</a:rPr>
              <a:t>06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67528" y="35935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2A"/>
                </a:solidFill>
              </a:rPr>
              <a:t>Структура стимулювання топів/менеджерів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67528" y="402336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470"/>
                </a:solidFill>
              </a:rPr>
              <a:t>Вибір горизонту бонусу та вплив на залученість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A896">
              <a:alpha val="14000"/>
            </a:srgbClr>
          </a:solidFill>
          <a:ln w="12700">
            <a:solidFill>
              <a:srgbClr val="00A89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2C39A"/>
                </a:solidFill>
              </a:rPr>
              <a:t>ТЕМА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Макетування системи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мотивації компанії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0116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CEA"/>
                </a:solidFill>
              </a:rPr>
              <a:t>Організаційна культура · Що мотивує крім грошей · Базові психологічні потреби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ТЕМА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Три рівні системи мотивації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7470"/>
                </a:solidFill>
              </a:rPr>
              <a:t>Зарплата — це лише один шар. Стійка залученість будується на всіх трьох рівнях.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7393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16642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2A"/>
                </a:solidFill>
              </a:rPr>
              <a:t>Матеріальна мотивація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02996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470"/>
                </a:solidFill>
              </a:rPr>
              <a:t>Оклад, бонуси, LTI, пільги (медичне страхування, корпоративне авто). Усуває «грошовий стрес» — базовий рівень.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615184"/>
            <a:ext cx="64008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2779776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81635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8448" y="27066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2A"/>
                </a:solidFill>
              </a:rPr>
              <a:t>Нематеріальна мотивація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3072384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470"/>
                </a:solidFill>
              </a:rPr>
              <a:t>Визнання, розвиток, автономія, цікаві завдання, кар'єрні перспективи. Саме тут будується залученість.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3822192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85876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3749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2A"/>
                </a:solidFill>
              </a:rPr>
              <a:t>Культурна мотивація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411480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470"/>
                </a:solidFill>
              </a:rPr>
              <a:t>Цінності компанії, місія, якість команди, стиль лідерства. Найпотужніший і найскладніший рівень для побудови.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ТЕМА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Теорія SDT: що мотивує крім грошей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822960"/>
          </a:xfrm>
          <a:prstGeom prst="rect">
            <a:avLst/>
          </a:prstGeom>
          <a:solidFill>
            <a:srgbClr val="D8ECEA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A2E2A"/>
                </a:solidFill>
              </a:rPr>
              <a:t>«Якщо хоча б одна базова потреба не задоволена — мотивація падає, навіть при підвищенні зарплати»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67204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470"/>
                </a:solidFill>
              </a:rPr>
              <a:t>— Deci &amp; Ryan, Self-Determination Theory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5176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Автономія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E2A"/>
                </a:solidFill>
              </a:rPr>
              <a:t>Відчуття контролю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2E2A"/>
                </a:solidFill>
              </a:rPr>
              <a:t>над своєю роботою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49300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Гнучкий графік, довіра, відсутність мікроменеджменту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55848" y="22860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55848" y="2286000"/>
            <a:ext cx="2651760" cy="4389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55848" y="2304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Компетентність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93008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E2A"/>
                </a:solidFill>
              </a:rPr>
              <a:t>Відчуття зростання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2E2A"/>
                </a:solidFill>
              </a:rPr>
              <a:t>та майстерності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65576" y="349300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Навчання, складні завдання, визнання прогресу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4496" y="22860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54496" y="2286000"/>
            <a:ext cx="265176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54496" y="23042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Зв'язок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91656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2E2A"/>
                </a:solidFill>
              </a:rPr>
              <a:t>Відчуття приналежності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2E2A"/>
                </a:solidFill>
              </a:rPr>
              <a:t>до команди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64224" y="3493008"/>
            <a:ext cx="24323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Командна культура, підтримка, якісні стосунки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3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E07A5F">
              <a:alpha val="18000"/>
            </a:srgbClr>
          </a:solidFill>
          <a:ln w="12700">
            <a:solidFill>
              <a:srgbClr val="E07A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A896">
              <a:alpha val="14000"/>
            </a:srgbClr>
          </a:solidFill>
          <a:ln w="12700">
            <a:solidFill>
              <a:srgbClr val="00A89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07A5F"/>
                </a:solidFill>
              </a:rPr>
              <a:t>ТЕМА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Роль грошей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 стимулюванні команди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011680" cy="45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CEA"/>
                </a:solidFill>
              </a:rPr>
              <a:t>Як досягти балансу · Теорія Герцберга · Ефект витіснення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ТЕМА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Двофакторна теорія Герцберга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Гігієнічні фактори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8249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A2E2A"/>
                </a:solidFill>
              </a:rPr>
              <a:t>Їхня ВІДСУТНІСТЬ демотивує.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0A2E2A"/>
                </a:solidFill>
              </a:rPr>
              <a:t>Але наявність — НЕ мотивує.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" y="2423160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E2A"/>
                </a:solidFill>
              </a:rPr>
              <a:t>Рівень заробітної плати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2825496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27797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E2A"/>
                </a:solidFill>
              </a:rPr>
              <a:t>Умови праці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" y="3227832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31821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E2A"/>
                </a:solidFill>
              </a:rPr>
              <a:t>Відносини з керівником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3630168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" y="3584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E2A"/>
                </a:solidFill>
              </a:rPr>
              <a:t>Корпоративна політика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" y="4032504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" y="39867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E2A"/>
                </a:solidFill>
              </a:rPr>
              <a:t>Гарантії зайнятості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40233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11155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Мотиватори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68249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A2E2A"/>
                </a:solidFill>
              </a:rPr>
              <a:t>Їхня НАЯВНІСТЬ реально надихає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0A2E2A"/>
                </a:solidFill>
              </a:rPr>
              <a:t>та підвищує залученість.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28032" y="242316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02352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E2A"/>
                </a:solidFill>
              </a:rPr>
              <a:t>Досягнення та результати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28032" y="282549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02352" y="27797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E2A"/>
                </a:solidFill>
              </a:rPr>
              <a:t>Визнання внеску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28032" y="322783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02352" y="31821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E2A"/>
                </a:solidFill>
              </a:rPr>
              <a:t>Відповідальність і вплив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28032" y="363016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02352" y="35844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E2A"/>
                </a:solidFill>
              </a:rPr>
              <a:t>Кар'єрне зростання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28032" y="40325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02352" y="39867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E2A"/>
                </a:solidFill>
              </a:rPr>
              <a:t>Цікавий зміст роботи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solidFill>
            <a:srgbClr val="D8ECEA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47548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Ключовий висновок: підвищення зарплати усуває невдоволення, але не створює залученості.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ТЕМА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Оптимальний баланс: матеріальне + нематеріальне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4008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252728"/>
            <a:ext cx="82296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39903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≥ринку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27632" y="1234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2A"/>
                </a:solidFill>
              </a:rPr>
              <a:t>Ринкова зарплата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27632" y="16184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470"/>
                </a:solidFill>
              </a:rPr>
              <a:t>Знімає «грошовий стрес». Базова умова залученості.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64008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" y="2459736"/>
            <a:ext cx="82296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26060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чітка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27632" y="24414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2A"/>
                </a:solidFill>
              </a:rPr>
              <a:t>Прозора бонусна система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27632" y="282549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470"/>
                </a:solidFill>
              </a:rPr>
              <a:t>Справедлива, зрозуміла, досяжна. Стимулює результат.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557016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557016"/>
            <a:ext cx="64008" cy="105156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" y="3666744"/>
            <a:ext cx="822960" cy="8046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381304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головне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27632" y="364845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E2A"/>
                </a:solidFill>
              </a:rPr>
              <a:t>Нематеріальні стимули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27632" y="403250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470"/>
                </a:solidFill>
              </a:rPr>
              <a:t>Тримають і надихають. Важко скопіювати конкурентам.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A896">
              <a:alpha val="14000"/>
            </a:srgbClr>
          </a:solidFill>
          <a:ln w="12700">
            <a:solidFill>
              <a:srgbClr val="00A89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2C39A"/>
                </a:solidFill>
              </a:rPr>
              <a:t>ТЕМА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Грейдингові системи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та відкритість зарплат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0116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CEA"/>
                </a:solidFill>
              </a:rPr>
              <a:t>Методології · Досвід ринку · Аргументи за і проти прозорості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2A"/>
                </a:solidFill>
              </a:rPr>
              <a:t>ТЕМА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таке грейдинг і навіщо він потрібен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7470"/>
                </a:solidFill>
              </a:rPr>
              <a:t>Класифікація посад за рівнем складності та цінністю для бізнесу, до якої прив'язані вилки зарплат.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2296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Principal / C-level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2240280"/>
            <a:ext cx="658368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22402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Lead / Director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2880360"/>
            <a:ext cx="493776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2880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Senior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3520440"/>
            <a:ext cx="3291840" cy="50292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34640" y="3520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Middle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4160520"/>
            <a:ext cx="1645920" cy="502920"/>
          </a:xfrm>
          <a:prstGeom prst="rect">
            <a:avLst/>
          </a:prstGeom>
          <a:solidFill>
            <a:srgbClr val="D8ECEA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0" y="41605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E2A"/>
                </a:solidFill>
              </a:rPr>
              <a:t>Junior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E2A"/>
                </a:solidFill>
              </a:rPr>
              <a:t>Переваги грейдингу: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2029968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96912" y="1993392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E2A"/>
                </a:solidFill>
              </a:rPr>
              <a:t>Прозорі кар'єрні шляхи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2560320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96912" y="2523744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E2A"/>
                </a:solidFill>
              </a:rPr>
              <a:t>Справедлива оплата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40880" y="3090672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96912" y="3054096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E2A"/>
                </a:solidFill>
              </a:rPr>
              <a:t>Спрощений рекрутинг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40880" y="3621024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96912" y="3584448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E2A"/>
                </a:solidFill>
              </a:rPr>
              <a:t>Менше конфліктів навколо зарплат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E2A"/>
                </a:solidFill>
              </a:rPr>
              <a:t>ТЕМА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Відкритість зарплат: за і проти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ЗА відкритість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2A"/>
                </a:solidFill>
              </a:rPr>
              <a:t>✓  Зменшує сприйняту несправедливість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2A"/>
                </a:solidFill>
              </a:rPr>
              <a:t>✓  Посилює довіру в команді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529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2A"/>
                </a:solidFill>
              </a:rPr>
              <a:t>✓  Зменшує gender pay gap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1985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2A"/>
                </a:solidFill>
              </a:rPr>
              <a:t>✓  Полегшує переговори про зарплату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11556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ПРОТИ відкритості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71907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2A"/>
                </a:solidFill>
              </a:rPr>
              <a:t>✕  Може викликати напругу без контексту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2A"/>
                </a:solidFill>
              </a:rPr>
              <a:t>✕  Складно без чіткої грейдингової системи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8529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2A"/>
                </a:solidFill>
              </a:rPr>
              <a:t>✕  Ризик порівнянь, що демотивують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41985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2A"/>
                </a:solidFill>
              </a:rPr>
              <a:t>✕  Потребує зрілої культури відкритості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62272"/>
            <a:ext cx="8229600" cy="502920"/>
          </a:xfrm>
          <a:prstGeom prst="rect">
            <a:avLst/>
          </a:prstGeom>
          <a:solidFill>
            <a:srgbClr val="D8ECEA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4498848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</a:rPr>
              <a:t>Золота середина: відкрити вилки по грейдах, але не персональні суми. Прозорість правил, а не цифр.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F2CC8F">
              <a:alpha val="18000"/>
            </a:srgbClr>
          </a:solidFill>
          <a:ln w="12700">
            <a:solidFill>
              <a:srgbClr val="F2CC8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A896">
              <a:alpha val="14000"/>
            </a:srgbClr>
          </a:solidFill>
          <a:ln w="12700">
            <a:solidFill>
              <a:srgbClr val="00A89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2CC8F"/>
                </a:solidFill>
              </a:rPr>
              <a:t>ТЕМА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Як змінити систему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мотивації без конфліктів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011680" cy="45720"/>
          </a:xfrm>
          <a:prstGeom prst="rect">
            <a:avLst/>
          </a:prstGeom>
          <a:solidFill>
            <a:srgbClr val="F2CC8F"/>
          </a:solidFill>
          <a:ln w="12700">
            <a:solidFill>
              <a:srgbClr val="F2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CEA"/>
                </a:solidFill>
              </a:rPr>
              <a:t>Причини опору · Алгоритм змін · Grandfather clause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ТЕМА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6-крокова модель трансформації системи мотивації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3504" y="886968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3504" y="9144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" y="1499616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E2A"/>
                </a:solidFill>
              </a:rPr>
              <a:t>Діагностика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5216" y="201168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Опитування, exit-інтерв'ю,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аналіз ринку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111556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02152" y="886968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02152" y="9144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83864" y="1499616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E2A"/>
                </a:solidFill>
              </a:rPr>
              <a:t>Дизайн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83864" y="201168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Розробка з залученням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ключових людей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1115568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886968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9144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2512" y="1499616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E2A"/>
                </a:solidFill>
              </a:rPr>
              <a:t>Пілот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82512" y="2011680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Тестування на одному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підрозділі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" y="2788920"/>
            <a:ext cx="566928" cy="566928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" y="2816352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" y="3401568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E2A"/>
                </a:solidFill>
              </a:rPr>
              <a:t>Комунікація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85216" y="3913632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Спочатку «навіщо»,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потім «що змінюється»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55848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502152" y="2788920"/>
            <a:ext cx="566928" cy="566928"/>
          </a:xfrm>
          <a:prstGeom prst="ellipse">
            <a:avLst/>
          </a:prstGeom>
          <a:solidFill>
            <a:srgbClr val="F2CC8F"/>
          </a:solidFill>
          <a:ln w="12700">
            <a:solidFill>
              <a:srgbClr val="F2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02152" y="2816352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83864" y="3401568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E2A"/>
                </a:solidFill>
              </a:rPr>
              <a:t>Перехідний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A2E2A"/>
                </a:solidFill>
              </a:rPr>
              <a:t>період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483864" y="3913632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Grandfather clause —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захист діючих умов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54496" y="301752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0" y="278892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0" y="2816352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82512" y="3401568"/>
            <a:ext cx="239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E2A"/>
                </a:solidFill>
              </a:rPr>
              <a:t>Моніторинг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382512" y="3913632"/>
            <a:ext cx="2395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Ретенція та задоволеність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E7470"/>
                </a:solidFill>
              </a:rPr>
              <a:t>після запуску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3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A896">
              <a:alpha val="14000"/>
            </a:srgbClr>
          </a:solidFill>
          <a:ln w="12700">
            <a:solidFill>
              <a:srgbClr val="00A89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A896"/>
                </a:solidFill>
              </a:rPr>
              <a:t>ТЕМА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PAEI-мотивація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співробітників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01168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CEA"/>
                </a:solidFill>
              </a:rPr>
              <a:t>Модель Іцхака Адізеса · 4 типи · Індивідуальний підхід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ТЕМА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Чотири PAEI-типи та їх мотиватори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20116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201168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2A"/>
                </a:solidFill>
              </a:rPr>
              <a:t>Producer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E2A"/>
                </a:solidFill>
              </a:rPr>
              <a:t>(Виробник)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828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523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Мотивує: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6148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E2A"/>
                </a:solidFill>
              </a:rPr>
              <a:t>Чіткі цілі, вимірний результат,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2E2A"/>
                </a:solidFill>
              </a:rPr>
              <a:t>швидка винагорода за досягнення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639312"/>
            <a:ext cx="1828800" cy="36576"/>
          </a:xfrm>
          <a:prstGeom prst="rect">
            <a:avLst/>
          </a:prstGeom>
          <a:solidFill>
            <a:srgbClr val="D8ECEA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73075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470"/>
                </a:solidFill>
              </a:rPr>
              <a:t>Демотивує: бюрократія, розмиті KPI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33472" y="1078992"/>
            <a:ext cx="20116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33472" y="1078992"/>
            <a:ext cx="2011680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33472" y="10789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24912" y="17190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2A"/>
                </a:solidFill>
              </a:rPr>
              <a:t>Administrator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E2A"/>
                </a:solidFill>
              </a:rPr>
              <a:t>(Адмін)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24912" y="2423160"/>
            <a:ext cx="18288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24912" y="2523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</a:rPr>
              <a:t>Мотивує: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24912" y="276148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E2A"/>
                </a:solidFill>
              </a:rPr>
              <a:t>Стабільність, чіткі правила,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2E2A"/>
                </a:solidFill>
              </a:rPr>
              <a:t>передбачуваність процесів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24912" y="3639312"/>
            <a:ext cx="1828800" cy="36576"/>
          </a:xfrm>
          <a:prstGeom prst="rect">
            <a:avLst/>
          </a:prstGeom>
          <a:solidFill>
            <a:srgbClr val="D8ECEA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24912" y="373075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470"/>
                </a:solidFill>
              </a:rPr>
              <a:t>Демотивує: хаос, постійні зміни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9744" y="1078992"/>
            <a:ext cx="20116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9744" y="1078992"/>
            <a:ext cx="2011680" cy="53035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9744" y="10789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901184" y="17190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2A"/>
                </a:solidFill>
              </a:rPr>
              <a:t>Entrepreneur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E2A"/>
                </a:solidFill>
              </a:rPr>
              <a:t>(Підприємець)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01184" y="2423160"/>
            <a:ext cx="1828800" cy="365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01184" y="2523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A5F"/>
                </a:solidFill>
              </a:rPr>
              <a:t>Мотивує: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01184" y="276148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E2A"/>
                </a:solidFill>
              </a:rPr>
              <a:t>Автономія, нові проекти,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2E2A"/>
                </a:solidFill>
              </a:rPr>
              <a:t>визнання та просування ідей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01184" y="3639312"/>
            <a:ext cx="1828800" cy="36576"/>
          </a:xfrm>
          <a:prstGeom prst="rect">
            <a:avLst/>
          </a:prstGeom>
          <a:solidFill>
            <a:srgbClr val="D8ECEA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01184" y="373075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470"/>
                </a:solidFill>
              </a:rPr>
              <a:t>Демотивує: мікроменеджмент, рутина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86016" y="1078992"/>
            <a:ext cx="20116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86016" y="1078992"/>
            <a:ext cx="2011680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86016" y="10789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077456" y="171907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E2A"/>
                </a:solidFill>
              </a:rPr>
              <a:t>Integrator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E2A"/>
                </a:solidFill>
              </a:rPr>
              <a:t>(Інтегратор)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77456" y="2423160"/>
            <a:ext cx="1828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77456" y="2523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Мотивує: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77456" y="276148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E2A"/>
                </a:solidFill>
              </a:rPr>
              <a:t>Гармонія в команді, визнання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2E2A"/>
                </a:solidFill>
              </a:rPr>
              <a:t>особистого внеску, турбота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77456" y="3639312"/>
            <a:ext cx="1828800" cy="36576"/>
          </a:xfrm>
          <a:prstGeom prst="rect">
            <a:avLst/>
          </a:prstGeom>
          <a:solidFill>
            <a:srgbClr val="D8ECEA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77456" y="3730752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470"/>
                </a:solidFill>
              </a:rPr>
              <a:t>Демотивує: конфлікти, знеособлення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3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A896">
              <a:alpha val="14000"/>
            </a:srgbClr>
          </a:solidFill>
          <a:ln w="12700">
            <a:solidFill>
              <a:srgbClr val="00A89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28090"/>
                </a:solidFill>
              </a:rPr>
              <a:t>ТЕМА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Оптимальна структура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стимулювання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0116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CEA"/>
                </a:solidFill>
              </a:rPr>
              <a:t>Топи · Менеджери · Спеціалісти · Вибір горизонту бонусу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ТЕМА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Структура оплати за рівнями ієрархії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828800" cy="384048"/>
          </a:xfrm>
          <a:prstGeom prst="rect">
            <a:avLst/>
          </a:prstGeom>
          <a:solidFill>
            <a:srgbClr val="0A2E2A"/>
          </a:solidFill>
          <a:ln w="12700">
            <a:solidFill>
              <a:srgbClr val="0A2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Рівень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115568"/>
            <a:ext cx="1645920" cy="384048"/>
          </a:xfrm>
          <a:prstGeom prst="rect">
            <a:avLst/>
          </a:prstGeom>
          <a:solidFill>
            <a:srgbClr val="0A2E2A"/>
          </a:solidFill>
          <a:ln w="12700">
            <a:solidFill>
              <a:srgbClr val="0A2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11155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Фіксована частина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115568"/>
            <a:ext cx="1828800" cy="384048"/>
          </a:xfrm>
          <a:prstGeom prst="rect">
            <a:avLst/>
          </a:prstGeom>
          <a:solidFill>
            <a:srgbClr val="0A2E2A"/>
          </a:solidFill>
          <a:ln w="12700">
            <a:solidFill>
              <a:srgbClr val="0A2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0" y="11155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Змінна частина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115568"/>
            <a:ext cx="1280160" cy="384048"/>
          </a:xfrm>
          <a:prstGeom prst="rect">
            <a:avLst/>
          </a:prstGeom>
          <a:solidFill>
            <a:srgbClr val="0A2E2A"/>
          </a:solidFill>
          <a:ln w="12700">
            <a:solidFill>
              <a:srgbClr val="0A2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0" y="11155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Горизонт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115568"/>
            <a:ext cx="2194560" cy="384048"/>
          </a:xfrm>
          <a:prstGeom prst="rect">
            <a:avLst/>
          </a:prstGeom>
          <a:solidFill>
            <a:srgbClr val="0A2E2A"/>
          </a:solidFill>
          <a:ln w="12700">
            <a:solidFill>
              <a:srgbClr val="0A2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0" y="11155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База бонусу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18288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1572768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Топ-менеджери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1572768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0" y="1572768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Великий фікс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1572768"/>
            <a:ext cx="1828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0" y="1572768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LTI / Довгостроковий бонус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572768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0" y="1572768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1–3 роки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1572768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0" y="1572768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Результати всієї компанії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624328"/>
            <a:ext cx="182880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2624328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Менеджери середньої ланки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2624328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77440" y="2624328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Фікс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31920" y="2624328"/>
            <a:ext cx="1828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23360" y="2624328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Квартальний / річний бонус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60720" y="2624328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52160" y="2624328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Квартал–рік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2624328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132320" y="2624328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KPI команди та підрозділу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675888"/>
            <a:ext cx="1828800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3675888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Спеціалісти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0" y="3675888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77440" y="3675888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Конкурентний фікс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31920" y="3675888"/>
            <a:ext cx="1828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023360" y="3675888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Невеликий або відсутній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60720" y="3675888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52160" y="3675888"/>
            <a:ext cx="1097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Місяць–квартал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40880" y="3675888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132320" y="3675888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2E2A"/>
                </a:solidFill>
              </a:rPr>
              <a:t>Акцент на нематеріальному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solidFill>
            <a:srgbClr val="D8ECEA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" y="47548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Правило: чим вища посада — тим довший горизонт бонусу і більша частка змінної оплати.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ТЕМА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E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Вибір горизонту бонусу: як це впливає на поведінку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64008" cy="1024128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243584"/>
            <a:ext cx="1234440" cy="71323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33502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Щомісячний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29968" y="1207008"/>
            <a:ext cx="6537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2A"/>
                </a:solidFill>
              </a:rPr>
              <a:t>Фокус на короткострокових метриках. Ризик «оптимізації під KPI» на шкоду якості.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64008" cy="10241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" y="2432304"/>
            <a:ext cx="1234440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52374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Квартальний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29968" y="2395728"/>
            <a:ext cx="6537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2A"/>
                </a:solidFill>
              </a:rPr>
              <a:t>Баланс між швидкістю зворотного зв'язку і якістю рішень. Оптимально для більшості менеджерів.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8229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64008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" y="3621024"/>
            <a:ext cx="123444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3712464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Річний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29968" y="3584448"/>
            <a:ext cx="6537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E2A"/>
                </a:solidFill>
              </a:rPr>
              <a:t>Стратегічне мислення, довгостроковий фокус. Слабкий прямий зв'язок «дія → винагорода».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D8ECEA"/>
          </a:solidFill>
          <a:ln w="12700">
            <a:solidFill>
              <a:srgbClr val="D8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72744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Ключ до залученості: прозорість правил, реалістичні цілі, своєчасна виплата, видимий зв'язок між діями та бонусом.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00A896">
              <a:alpha val="16000"/>
            </a:srgbClr>
          </a:solidFill>
          <a:ln w="12700">
            <a:solidFill>
              <a:srgbClr val="00A89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Майстер-клас завершено!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353312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4864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550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Система мотивації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020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470"/>
                </a:solidFill>
              </a:rPr>
              <a:t>Три рівні · SDT · Організаційна культура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600200"/>
            <a:ext cx="54864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0" y="16550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Роль грошей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0208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470"/>
                </a:solidFill>
              </a:rPr>
              <a:t>Герцберг · Crowding out · Баланс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24328"/>
            <a:ext cx="54864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6791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Грейди та прозорість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044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470"/>
                </a:solidFill>
              </a:rPr>
              <a:t>Методології · Досвід ринку · За і проти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624328"/>
            <a:ext cx="54864" cy="80467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6791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Зміна системи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044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470"/>
                </a:solidFill>
              </a:rPr>
              <a:t>6 кроків · Grandfather clause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48456"/>
            <a:ext cx="54864" cy="804672"/>
          </a:xfrm>
          <a:prstGeom prst="rect">
            <a:avLst/>
          </a:prstGeom>
          <a:solidFill>
            <a:srgbClr val="F2CC8F"/>
          </a:solidFill>
          <a:ln w="12700">
            <a:solidFill>
              <a:srgbClr val="F2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37033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PAEI-мотивація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470"/>
                </a:solidFill>
              </a:rPr>
              <a:t>P, A, E, I типи · Індивідуальний підхід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648456"/>
            <a:ext cx="54864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7033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Структура стимулів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4069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470"/>
                </a:solidFill>
              </a:rPr>
              <a:t>Топи, менеджери, спеціалісти · Горизонт бонусу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7470"/>
                </a:solidFill>
              </a:rPr>
              <a:t>Мотивована команда — це не витрати. Це конкурентна перевага.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960</Words>
  <Application>Microsoft Office PowerPoint</Application>
  <PresentationFormat>Екран (16:9)</PresentationFormat>
  <Paragraphs>254</Paragraphs>
  <Slides>19</Slides>
  <Notes>19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19</vt:i4>
      </vt:variant>
    </vt:vector>
  </HeadingPairs>
  <TitlesOfParts>
    <vt:vector size="22" baseType="lpstr">
      <vt:lpstr>Arial</vt:lpstr>
      <vt:lpstr>Trebuchet MS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Мотивація команди — Майстер-клас</dc:title>
  <dc:subject>PptxGenJS Presentation</dc:subject>
  <dc:creator>Irina Derevianchenko</dc:creator>
  <cp:lastModifiedBy>Irina Derevianchenko</cp:lastModifiedBy>
  <cp:revision>2</cp:revision>
  <dcterms:created xsi:type="dcterms:W3CDTF">2026-04-29T09:49:12Z</dcterms:created>
  <dcterms:modified xsi:type="dcterms:W3CDTF">2026-04-29T16:05:42Z</dcterms:modified>
</cp:coreProperties>
</file>