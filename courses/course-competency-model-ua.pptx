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2457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2D2D5E">
              <a:alpha val="40000"/>
            </a:srgbClr>
          </a:solidFill>
          <a:ln w="12700">
            <a:solidFill>
              <a:srgbClr val="2D2D5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5C4B9E">
              <a:alpha val="30000"/>
            </a:srgbClr>
          </a:solidFill>
          <a:ln w="12700">
            <a:solidFill>
              <a:srgbClr val="5C4B9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3474720"/>
            <a:ext cx="1828800" cy="1828800"/>
          </a:xfrm>
          <a:prstGeom prst="ellipse">
            <a:avLst/>
          </a:prstGeom>
          <a:solidFill>
            <a:srgbClr val="7B68C8">
              <a:alpha val="25000"/>
            </a:srgbClr>
          </a:solidFill>
          <a:ln w="12700">
            <a:solidFill>
              <a:srgbClr val="7B68C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1000" dirty="0">
                <a:solidFill>
                  <a:srgbClr val="FFFFFF"/>
                </a:solidFill>
              </a:rPr>
              <a:t>МОДЕЛЬ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600" dirty="0">
                <a:solidFill>
                  <a:srgbClr val="AFA9EC"/>
                </a:solidFill>
              </a:rPr>
              <a:t>КОМПЕТЕНЦІЙ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2560320" cy="36576"/>
          </a:xfrm>
          <a:prstGeom prst="rect">
            <a:avLst/>
          </a:prstGeom>
          <a:solidFill>
            <a:srgbClr val="7B68C8"/>
          </a:solidFill>
          <a:ln w="12700">
            <a:solidFill>
              <a:srgbClr val="7B6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FA9EC"/>
                </a:solidFill>
              </a:rPr>
              <a:t>Повний курс · 10 модулів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A9EC"/>
                </a:solidFill>
              </a:rPr>
              <a:t>Від теорії до практики — системне впровадження компетенцій в організації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637A"/>
                </a:solidFill>
              </a:rPr>
              <a:t>Підбір · Оцінка · Розвиток · Оплата · Автоматизація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C4B9E"/>
          </a:solidFill>
          <a:ln w="12700">
            <a:solidFill>
              <a:srgbClr val="5C4B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</a:rPr>
              <a:t>Зміст курсу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4864" cy="603504"/>
          </a:xfrm>
          <a:prstGeom prst="rect">
            <a:avLst/>
          </a:prstGeom>
          <a:solidFill>
            <a:srgbClr val="5C4B9E"/>
          </a:solidFill>
          <a:ln w="12700">
            <a:solidFill>
              <a:srgbClr val="5C4B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420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4B9E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24" y="960120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Поняття та цінність МК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664208"/>
            <a:ext cx="54864" cy="603504"/>
          </a:xfrm>
          <a:prstGeom prst="rect">
            <a:avLst/>
          </a:prstGeom>
          <a:solidFill>
            <a:srgbClr val="5C4B9E"/>
          </a:solidFill>
          <a:ln w="12700">
            <a:solidFill>
              <a:srgbClr val="5C4B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755648"/>
            <a:ext cx="420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4B9E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7824" y="1709928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Формування МК. Спіральна динаміка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414016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414016"/>
            <a:ext cx="54864" cy="60350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505456"/>
            <a:ext cx="420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9E75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77824" y="2459736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Системне впровадження МК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163824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163824"/>
            <a:ext cx="54864" cy="60350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255264"/>
            <a:ext cx="420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9E75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7824" y="3209544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Поведінкове інтерв'ю. STAR та CAR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913632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913632"/>
            <a:ext cx="54864" cy="603504"/>
          </a:xfrm>
          <a:prstGeom prst="rect">
            <a:avLst/>
          </a:prstGeom>
          <a:solidFill>
            <a:srgbClr val="7B68C8"/>
          </a:solidFill>
          <a:ln w="12700">
            <a:solidFill>
              <a:srgbClr val="7B6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005072"/>
            <a:ext cx="420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68C8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7824" y="3959352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Оцінка 360 градусів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914400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914400"/>
            <a:ext cx="54864" cy="603504"/>
          </a:xfrm>
          <a:prstGeom prst="rect">
            <a:avLst/>
          </a:prstGeom>
          <a:solidFill>
            <a:srgbClr val="7B68C8"/>
          </a:solidFill>
          <a:ln w="12700">
            <a:solidFill>
              <a:srgbClr val="7B6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1005840"/>
            <a:ext cx="420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68C8"/>
                </a:solidFill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66944" y="960120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Асесмент центр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54880" y="1664208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54880" y="1664208"/>
            <a:ext cx="54864" cy="603504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46320" y="1755648"/>
            <a:ext cx="420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85A30"/>
                </a:solidFill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66944" y="1709928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Системний розвиток компетенцій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54880" y="2414016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54880" y="2414016"/>
            <a:ext cx="54864" cy="603504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46320" y="2505456"/>
            <a:ext cx="420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85A30"/>
                </a:solidFill>
              </a:rPr>
              <a:t>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266944" y="2459736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Інтеграція МК в систему оплати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754880" y="3163824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54880" y="3163824"/>
            <a:ext cx="54864" cy="603504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46320" y="3255264"/>
            <a:ext cx="420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A7517"/>
                </a:solidFill>
              </a:rPr>
              <a:t>9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66944" y="3209544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Фактори успішного впровадження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754880" y="3913632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754880" y="3913632"/>
            <a:ext cx="54864" cy="60350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46320" y="4005072"/>
            <a:ext cx="420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9E75"/>
                </a:solidFill>
              </a:rPr>
              <a:t>10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266944" y="3959352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Автоматизація управління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2D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7B68C8">
              <a:alpha val="20000"/>
            </a:srgbClr>
          </a:solidFill>
          <a:ln w="12700">
            <a:solidFill>
              <a:srgbClr val="7B68C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7B68C8">
              <a:alpha val="15000"/>
            </a:srgbClr>
          </a:solidFill>
          <a:ln w="12700">
            <a:solidFill>
              <a:srgbClr val="7B68C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7B68C8"/>
                </a:solidFill>
              </a:rPr>
              <a:t>МОДУЛЬ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Модель компетенцій.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Поняття та цінність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1828800" cy="36576"/>
          </a:xfrm>
          <a:prstGeom prst="rect">
            <a:avLst/>
          </a:prstGeom>
          <a:solidFill>
            <a:srgbClr val="7B68C8"/>
          </a:solidFill>
          <a:ln w="12700">
            <a:solidFill>
              <a:srgbClr val="7B6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A9EC"/>
                </a:solidFill>
              </a:rPr>
              <a:t>Основи, структура і роль МК в системі управління ефективністю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C4B9E"/>
          </a:solidFill>
          <a:ln w="12700">
            <a:solidFill>
              <a:srgbClr val="5C4B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463040" cy="256032"/>
          </a:xfrm>
          <a:prstGeom prst="roundRect">
            <a:avLst>
              <a:gd name="adj" fmla="val 25000"/>
            </a:avLst>
          </a:prstGeom>
          <a:solidFill>
            <a:srgbClr val="5C4B9E"/>
          </a:solidFill>
          <a:ln w="12700">
            <a:solidFill>
              <a:srgbClr val="5C4B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МОДУЛЬ 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</a:rPr>
              <a:t>Що таке модель компетенцій?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637A"/>
                </a:solidFill>
              </a:rPr>
              <a:t>Структурований опис знань, навичок і поведінки, необхідних для досягнення цілей організації.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2606040" cy="457200"/>
          </a:xfrm>
          <a:prstGeom prst="rect">
            <a:avLst/>
          </a:prstGeom>
          <a:solidFill>
            <a:srgbClr val="5C4B9E"/>
          </a:solidFill>
          <a:ln w="12700">
            <a:solidFill>
              <a:srgbClr val="5C4B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80136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Корпоративні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Єдині для всіх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співробітників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32004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637A"/>
                </a:solidFill>
              </a:rPr>
              <a:t>Назва → Опис → Поведінкові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4637A"/>
                </a:solidFill>
              </a:rPr>
              <a:t>індикатори за рівнями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73736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1737360"/>
            <a:ext cx="2606040" cy="4572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0" y="180136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Управлінські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23317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Для менеджерів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усіх рівнів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37560" y="32004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637A"/>
                </a:solidFill>
              </a:rPr>
              <a:t>Назва → Опис → Поведінкові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4637A"/>
                </a:solidFill>
              </a:rPr>
              <a:t>індикатори за рівнями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173736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35040" y="1737360"/>
            <a:ext cx="2606040" cy="45720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35040" y="180136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Функціональні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2200" y="23317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Для конкретних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ролей і посад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172200" y="32004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637A"/>
                </a:solidFill>
              </a:rPr>
              <a:t>Назва → Опис → Поведінкові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4637A"/>
                </a:solidFill>
              </a:rPr>
              <a:t>індикатори за рівнями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4805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4B9E"/>
                </a:solidFill>
              </a:rPr>
              <a:t>Ключовий принцип: Кожна компетенція описує ЯК людина працює, а не ЩО вона досягає.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C4B9E"/>
          </a:solidFill>
          <a:ln w="12700">
            <a:solidFill>
              <a:srgbClr val="5C4B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463040" cy="256032"/>
          </a:xfrm>
          <a:prstGeom prst="roundRect">
            <a:avLst>
              <a:gd name="adj" fmla="val 25000"/>
            </a:avLst>
          </a:prstGeom>
          <a:solidFill>
            <a:srgbClr val="5C4B9E"/>
          </a:solidFill>
          <a:ln w="12700">
            <a:solidFill>
              <a:srgbClr val="5C4B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МОДУЛЬ 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МК в системі управління ефективністю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2011680" cy="1005840"/>
          </a:xfrm>
          <a:prstGeom prst="rect">
            <a:avLst/>
          </a:prstGeom>
          <a:solidFill>
            <a:srgbClr val="5C4B9E"/>
          </a:solidFill>
          <a:ln w="12700">
            <a:solidFill>
              <a:srgbClr val="5C4B9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5544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Стратегія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компанії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31720" y="2057400"/>
            <a:ext cx="548640" cy="0"/>
          </a:xfrm>
          <a:prstGeom prst="line">
            <a:avLst/>
          </a:prstGeom>
          <a:noFill/>
          <a:ln w="12700">
            <a:solidFill>
              <a:srgbClr val="6463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0" y="1554480"/>
            <a:ext cx="2011680" cy="10058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0" y="15544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KPI / Цілі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(ЩО)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2057400"/>
            <a:ext cx="548640" cy="0"/>
          </a:xfrm>
          <a:prstGeom prst="line">
            <a:avLst/>
          </a:prstGeom>
          <a:noFill/>
          <a:ln w="12700">
            <a:solidFill>
              <a:srgbClr val="6463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554480"/>
            <a:ext cx="2011680" cy="1005840"/>
          </a:xfrm>
          <a:prstGeom prst="rect">
            <a:avLst/>
          </a:prstGeom>
          <a:solidFill>
            <a:srgbClr val="5C4B9E"/>
          </a:solidFill>
          <a:ln w="12700">
            <a:solidFill>
              <a:srgbClr val="5C4B9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15544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Компетенції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(ЯК)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66560" y="2057400"/>
            <a:ext cx="548640" cy="0"/>
          </a:xfrm>
          <a:prstGeom prst="line">
            <a:avLst/>
          </a:prstGeom>
          <a:noFill/>
          <a:ln w="12700">
            <a:solidFill>
              <a:srgbClr val="6463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949440" y="1554480"/>
            <a:ext cx="2011680" cy="100584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949440" y="15544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Річна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оцінка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27432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637A"/>
                </a:solidFill>
              </a:rPr>
              <a:t>↓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2606040" cy="64008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2461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Компенсація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91840" y="3246120"/>
            <a:ext cx="2606040" cy="6400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91840" y="32461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План розвитку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3246120"/>
            <a:ext cx="2606040" cy="640080"/>
          </a:xfrm>
          <a:prstGeom prst="rect">
            <a:avLst/>
          </a:prstGeom>
          <a:solidFill>
            <a:srgbClr val="7B68C8"/>
          </a:solidFill>
          <a:ln w="12700">
            <a:solidFill>
              <a:srgbClr val="7B6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26480" y="32461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Кар'єрне зростання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206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637A"/>
                </a:solidFill>
              </a:rPr>
              <a:t>Оцінка "ЩО" + "ЯК" разом дає повну, справедливу картину ефективності.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2D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1D9E75">
              <a:alpha val="20000"/>
            </a:srgbClr>
          </a:solidFill>
          <a:ln w="12700">
            <a:solidFill>
              <a:srgbClr val="1D9E7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1D9E75"/>
                </a:solidFill>
              </a:rPr>
              <a:t>МОДУЛЬ 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Формування МК.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Спіральна динаміка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1828800" cy="3657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A9EC"/>
                </a:solidFill>
              </a:rPr>
              <a:t>Як визначити культуру і побудувати цільову модель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463040" cy="256032"/>
          </a:xfrm>
          <a:prstGeom prst="roundRect">
            <a:avLst>
              <a:gd name="adj" fmla="val 25000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МОДУЛЬ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</a:rPr>
              <a:t>Рівні корпоративної культури (Спіральна динаміка)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914400" cy="411480"/>
          </a:xfrm>
          <a:prstGeom prst="rect">
            <a:avLst/>
          </a:prstGeom>
          <a:solidFill>
            <a:srgbClr val="D4B896"/>
          </a:solidFill>
          <a:ln w="12700">
            <a:solidFill>
              <a:srgbClr val="D4B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Бежевий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1732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Виживання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645920"/>
            <a:ext cx="1920240" cy="411480"/>
          </a:xfrm>
          <a:prstGeom prst="rect">
            <a:avLst/>
          </a:prstGeom>
          <a:solidFill>
            <a:srgbClr val="8B6CA8"/>
          </a:solidFill>
          <a:ln w="12700">
            <a:solidFill>
              <a:srgbClr val="8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6459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Фіолетовий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2316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Плем'я / лояльність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292608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21945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Червоний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29000" y="2240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Сила / влада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393192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7432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Синій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3484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Правила / порядок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91840"/>
            <a:ext cx="493776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32918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Помаранчевий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40680" y="3337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Досягнення / ефективність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840480"/>
            <a:ext cx="5943600" cy="411480"/>
          </a:xfrm>
          <a:prstGeom prst="rect">
            <a:avLst/>
          </a:prstGeom>
          <a:solidFill>
            <a:srgbClr val="2D9E5A"/>
          </a:solidFill>
          <a:ln w="12700">
            <a:solidFill>
              <a:srgbClr val="2D9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38404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Зелений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46520" y="3886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Спільнота / цінності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02336" y="4397463"/>
            <a:ext cx="6949440" cy="411480"/>
          </a:xfrm>
          <a:prstGeom prst="rect">
            <a:avLst/>
          </a:prstGeom>
          <a:solidFill>
            <a:srgbClr val="CCBA12"/>
          </a:solidFill>
          <a:ln w="12700">
            <a:solidFill>
              <a:srgbClr val="CCB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438912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Жовтий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52360" y="4434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Системне мислення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763223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9E75"/>
                </a:solidFill>
              </a:rPr>
              <a:t>Для формування МК потрібно спочатку визначити поточний рівень, потім — цільовий.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463040" cy="256032"/>
          </a:xfrm>
          <a:prstGeom prst="roundRect">
            <a:avLst>
              <a:gd name="adj" fmla="val 25000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МОДУЛЬ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Етапи формування моделі компетенцій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1554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640080" cy="640080"/>
          </a:xfrm>
          <a:prstGeom prst="ellipse">
            <a:avLst/>
          </a:prstGeom>
          <a:solidFill>
            <a:srgbClr val="5C4B9E"/>
          </a:solidFill>
          <a:ln w="12700">
            <a:solidFill>
              <a:srgbClr val="5C4B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143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Аналіз стратегії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4231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637A"/>
                </a:solidFill>
              </a:rPr>
              <a:t>Бізнес-цілі на 3-5 років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0" y="2377440"/>
            <a:ext cx="164592" cy="0"/>
          </a:xfrm>
          <a:prstGeom prst="line">
            <a:avLst/>
          </a:prstGeom>
          <a:noFill/>
          <a:ln w="12700">
            <a:solidFill>
              <a:srgbClr val="6463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993392" y="1188720"/>
            <a:ext cx="1554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50592" y="1097280"/>
            <a:ext cx="640080" cy="64008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50592" y="1143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84832" y="18745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Поточна культура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84832" y="24231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637A"/>
                </a:solidFill>
              </a:rPr>
              <a:t>Опитування, аналіз поведінки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47872" y="2377440"/>
            <a:ext cx="164592" cy="0"/>
          </a:xfrm>
          <a:prstGeom prst="line">
            <a:avLst/>
          </a:prstGeom>
          <a:noFill/>
          <a:ln w="12700">
            <a:solidFill>
              <a:srgbClr val="6463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712464" y="1188720"/>
            <a:ext cx="1554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69664" y="1097280"/>
            <a:ext cx="640080" cy="640080"/>
          </a:xfrm>
          <a:prstGeom prst="ellipse">
            <a:avLst/>
          </a:prstGeom>
          <a:solidFill>
            <a:srgbClr val="7B68C8"/>
          </a:solidFill>
          <a:ln w="12700">
            <a:solidFill>
              <a:srgbClr val="7B6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69664" y="1143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03904" y="18745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Цільова культура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03904" y="24231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637A"/>
                </a:solidFill>
              </a:rPr>
              <a:t>Рівень за Спіральною динамікою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66944" y="2377440"/>
            <a:ext cx="164592" cy="0"/>
          </a:xfrm>
          <a:prstGeom prst="line">
            <a:avLst/>
          </a:prstGeom>
          <a:noFill/>
          <a:ln w="12700">
            <a:solidFill>
              <a:srgbClr val="6463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31536" y="1188720"/>
            <a:ext cx="1554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888736" y="1097280"/>
            <a:ext cx="640080" cy="640080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888736" y="1143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22976" y="18745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Список компетенцій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22976" y="24231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637A"/>
                </a:solidFill>
              </a:rPr>
              <a:t>7-12 ключових компетенцій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986016" y="2377440"/>
            <a:ext cx="164592" cy="0"/>
          </a:xfrm>
          <a:prstGeom prst="line">
            <a:avLst/>
          </a:prstGeom>
          <a:noFill/>
          <a:ln w="12700">
            <a:solidFill>
              <a:srgbClr val="6463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150608" y="1188720"/>
            <a:ext cx="1554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607808" y="1097280"/>
            <a:ext cx="640080" cy="640080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607808" y="1143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242048" y="18745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Валідація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42048" y="24231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637A"/>
                </a:solidFill>
              </a:rPr>
              <a:t>Погодження з керівниками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3977640"/>
            <a:ext cx="8412480" cy="457200"/>
          </a:xfrm>
          <a:prstGeom prst="rect">
            <a:avLst/>
          </a:prstGeom>
          <a:solidFill>
            <a:srgbClr val="E1F5E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9E75"/>
                </a:solidFill>
              </a:rPr>
              <a:t>Структура компетенції: Назва → Визначення → Поведінкові індикатори (рівні 1-5)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2D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7B68C8">
              <a:alpha val="20000"/>
            </a:srgbClr>
          </a:solidFill>
          <a:ln w="12700">
            <a:solidFill>
              <a:srgbClr val="7B68C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7B68C8">
              <a:alpha val="15000"/>
            </a:srgbClr>
          </a:solidFill>
          <a:ln w="12700">
            <a:solidFill>
              <a:srgbClr val="7B68C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7B68C8"/>
                </a:solidFill>
              </a:rPr>
              <a:t>МОДУЛЬ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Інструменти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системного впровадження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1828800" cy="36576"/>
          </a:xfrm>
          <a:prstGeom prst="rect">
            <a:avLst/>
          </a:prstGeom>
          <a:solidFill>
            <a:srgbClr val="7B68C8"/>
          </a:solidFill>
          <a:ln w="12700">
            <a:solidFill>
              <a:srgbClr val="7B6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A9EC"/>
                </a:solidFill>
              </a:rPr>
              <a:t>Підбір · Кар'єра · Навчання · Оцінка · Прогноз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B68C8"/>
          </a:solidFill>
          <a:ln w="12700">
            <a:solidFill>
              <a:srgbClr val="7B6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463040" cy="256032"/>
          </a:xfrm>
          <a:prstGeom prst="roundRect">
            <a:avLst>
              <a:gd name="adj" fmla="val 25000"/>
            </a:avLst>
          </a:prstGeom>
          <a:solidFill>
            <a:srgbClr val="7B68C8"/>
          </a:solidFill>
          <a:ln w="12700">
            <a:solidFill>
              <a:srgbClr val="7B6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МОДУЛЬ 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МК як системоутворюючий HR-елемент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429000" y="1828800"/>
            <a:ext cx="2286000" cy="1645920"/>
          </a:xfrm>
          <a:prstGeom prst="ellipse">
            <a:avLst/>
          </a:prstGeom>
          <a:solidFill>
            <a:srgbClr val="5C4B9E"/>
          </a:solidFill>
          <a:ln w="12700">
            <a:solidFill>
              <a:srgbClr val="5C4B9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29000" y="19202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Модель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компетенцій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2011680" cy="7772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0972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Підбір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персоналу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011680" cy="7772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0" y="8229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Навчання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та розвиток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097280"/>
            <a:ext cx="2011680" cy="77724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0" y="10972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Оцінка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ефективності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383280"/>
            <a:ext cx="2011680" cy="777240"/>
          </a:xfrm>
          <a:prstGeom prst="rect">
            <a:avLst/>
          </a:prstGeom>
          <a:solidFill>
            <a:srgbClr val="7B68C8"/>
          </a:solidFill>
          <a:ln w="12700">
            <a:solidFill>
              <a:srgbClr val="7B68C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33832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Управління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кар'єрою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3977640"/>
            <a:ext cx="2011680" cy="77724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0" y="39776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Компенсація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та оплата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3383280"/>
            <a:ext cx="2011680" cy="777240"/>
          </a:xfrm>
          <a:prstGeom prst="rect">
            <a:avLst/>
          </a:prstGeom>
          <a:solidFill>
            <a:srgbClr val="7B68C8"/>
          </a:solidFill>
          <a:ln w="12700">
            <a:solidFill>
              <a:srgbClr val="7B68C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0" y="33832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Адаптація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новачка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2D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D85A30">
              <a:alpha val="20000"/>
            </a:srgbClr>
          </a:solidFill>
          <a:ln w="12700">
            <a:solidFill>
              <a:srgbClr val="D85A3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D85A30">
              <a:alpha val="15000"/>
            </a:srgbClr>
          </a:solidFill>
          <a:ln w="12700">
            <a:solidFill>
              <a:srgbClr val="D85A3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D85A30"/>
                </a:solidFill>
              </a:rPr>
              <a:t>МОДУЛЬ 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Поведінкове інтерв'ю.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STAR та CAR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1828800" cy="36576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A9EC"/>
                </a:solidFill>
              </a:rPr>
              <a:t>Методи структурованого збору поведінкових доказів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463040" cy="256032"/>
          </a:xfrm>
          <a:prstGeom prst="roundRect">
            <a:avLst>
              <a:gd name="adj" fmla="val 25000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МОДУЛЬ 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</a:rPr>
              <a:t>Методи STAR та CAR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637A"/>
                </a:solidFill>
              </a:rPr>
              <a:t>Принцип: минула поведінка — найкращий предиктор майбутньої.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STAR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783080"/>
            <a:ext cx="502920" cy="658368"/>
          </a:xfrm>
          <a:prstGeom prst="rect">
            <a:avLst/>
          </a:prstGeom>
          <a:solidFill>
            <a:srgbClr val="5C4B9E"/>
          </a:solidFill>
          <a:ln w="12700">
            <a:solidFill>
              <a:srgbClr val="5C4B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78308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18105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Situation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057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637A"/>
                </a:solidFill>
              </a:rPr>
              <a:t>Опишіть конкретну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637A"/>
                </a:solidFill>
              </a:rPr>
              <a:t>ситуацію або контекст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532888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532888"/>
            <a:ext cx="502920" cy="6583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532888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25603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Task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280720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637A"/>
                </a:solidFill>
              </a:rPr>
              <a:t>Яке завдання стояло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637A"/>
                </a:solidFill>
              </a:rPr>
              <a:t>перед вами?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282696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282696"/>
            <a:ext cx="502920" cy="65836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3282696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0120" y="33101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Action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355701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637A"/>
                </a:solidFill>
              </a:rPr>
              <a:t>Які конкретні дії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637A"/>
                </a:solidFill>
              </a:rPr>
              <a:t>ви вжили?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032504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5760" y="4032504"/>
            <a:ext cx="502920" cy="65836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4032504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60120" y="405993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Result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" y="430682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637A"/>
                </a:solidFill>
              </a:rPr>
              <a:t>Яким був вимірюваний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637A"/>
                </a:solidFill>
              </a:rPr>
              <a:t>результат?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1417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CAR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46320" y="1783080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46320" y="1783080"/>
            <a:ext cx="502920" cy="658368"/>
          </a:xfrm>
          <a:prstGeom prst="rect">
            <a:avLst/>
          </a:prstGeom>
          <a:solidFill>
            <a:srgbClr val="5C4B9E"/>
          </a:solidFill>
          <a:ln w="12700">
            <a:solidFill>
              <a:srgbClr val="5C4B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0" y="178308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440680" y="18105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Challenge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40680" y="2057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637A"/>
                </a:solidFill>
              </a:rPr>
              <a:t>Який виклик або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637A"/>
                </a:solidFill>
              </a:rPr>
              <a:t>проблема стояла?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2532888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46320" y="2532888"/>
            <a:ext cx="502920" cy="6583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46320" y="2532888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440680" y="25603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Action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40680" y="28072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637A"/>
                </a:solidFill>
              </a:rPr>
              <a:t>Які дії ви вжили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637A"/>
                </a:solidFill>
              </a:rPr>
              <a:t>для вирішення?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3282696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846320" y="3282696"/>
            <a:ext cx="502920" cy="65836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46320" y="3282696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R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5440680" y="33101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Result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40680" y="355701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637A"/>
                </a:solidFill>
              </a:rPr>
              <a:t>Який результат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637A"/>
                </a:solidFill>
              </a:rPr>
              <a:t>було досягнуто?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85A30"/>
                </a:solidFill>
              </a:rPr>
              <a:t>Коли STAR: потрібна повна картина (підбір, глибока оцінка) · Коли CAR: для коротшого фокусного інтерв'ю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D2D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7B68C8">
              <a:alpha val="20000"/>
            </a:srgbClr>
          </a:solidFill>
          <a:ln w="12700">
            <a:solidFill>
              <a:srgbClr val="7B68C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7B68C8">
              <a:alpha val="15000"/>
            </a:srgbClr>
          </a:solidFill>
          <a:ln w="12700">
            <a:solidFill>
              <a:srgbClr val="7B68C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7B68C8"/>
                </a:solidFill>
              </a:rPr>
              <a:t>МОДУЛЬ 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Оцінка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360 градусів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1828800" cy="36576"/>
          </a:xfrm>
          <a:prstGeom prst="rect">
            <a:avLst/>
          </a:prstGeom>
          <a:solidFill>
            <a:srgbClr val="7B68C8"/>
          </a:solidFill>
          <a:ln w="12700">
            <a:solidFill>
              <a:srgbClr val="7B6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A9EC"/>
                </a:solidFill>
              </a:rPr>
              <a:t>Метод збору зворотного зв'язку від усього оточення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B68C8"/>
          </a:solidFill>
          <a:ln w="12700">
            <a:solidFill>
              <a:srgbClr val="7B6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463040" cy="256032"/>
          </a:xfrm>
          <a:prstGeom prst="roundRect">
            <a:avLst>
              <a:gd name="adj" fmla="val 25000"/>
            </a:avLst>
          </a:prstGeom>
          <a:solidFill>
            <a:srgbClr val="7B68C8"/>
          </a:solidFill>
          <a:ln w="12700">
            <a:solidFill>
              <a:srgbClr val="7B6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МОДУЛЬ 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</a:rPr>
              <a:t>Оцінка 360°: як це працює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2" y="2002537"/>
            <a:ext cx="2011680" cy="1463040"/>
          </a:xfrm>
          <a:prstGeom prst="ellipse">
            <a:avLst/>
          </a:prstGeom>
          <a:solidFill>
            <a:srgbClr val="5C4B9E"/>
          </a:solidFill>
          <a:ln w="12700">
            <a:solidFill>
              <a:srgbClr val="5C4B9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023362" y="2116837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Співробітник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0" y="900684"/>
            <a:ext cx="1920240" cy="77724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0" y="868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Керівник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0" y="12070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Стратегічний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погляд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0" y="2286000"/>
            <a:ext cx="1920240" cy="7772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Колеги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0" y="26700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Командна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взаємодія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0" y="3931920"/>
            <a:ext cx="1920240" cy="77724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0" y="3977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Підлеглі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0" y="43159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Лідерські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якості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97280" y="2286000"/>
            <a:ext cx="1920240" cy="777240"/>
          </a:xfrm>
          <a:prstGeom prst="rect">
            <a:avLst/>
          </a:prstGeom>
          <a:solidFill>
            <a:srgbClr val="7B68C8"/>
          </a:solidFill>
          <a:ln w="12700">
            <a:solidFill>
              <a:srgbClr val="7B68C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9728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Самооцінка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26700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Самоусвідомлення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46817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4B9E"/>
                </a:solidFill>
              </a:rPr>
              <a:t>Результат: 4-квадрантний профіль компетенцій · Виявлення сліпих плям · База для ІПР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D2D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D85A30">
              <a:alpha val="20000"/>
            </a:srgbClr>
          </a:solidFill>
          <a:ln w="12700">
            <a:solidFill>
              <a:srgbClr val="D85A3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D85A30">
              <a:alpha val="15000"/>
            </a:srgbClr>
          </a:solidFill>
          <a:ln w="12700">
            <a:solidFill>
              <a:srgbClr val="D85A3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D85A30"/>
                </a:solidFill>
              </a:rPr>
              <a:t>МОДУЛЬ 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Асесмент центр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1828800" cy="36576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A9EC"/>
                </a:solidFill>
              </a:rPr>
              <a:t>Комплексна оцінка через симуляції, ігри та кейси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463040" cy="256032"/>
          </a:xfrm>
          <a:prstGeom prst="roundRect">
            <a:avLst>
              <a:gd name="adj" fmla="val 25000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МОДУЛЬ 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Методологія асесмент центру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1600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1600200" cy="411480"/>
          </a:xfrm>
          <a:prstGeom prst="rect">
            <a:avLst/>
          </a:prstGeom>
          <a:solidFill>
            <a:srgbClr val="5C4B9E"/>
          </a:solidFill>
          <a:ln w="12700">
            <a:solidFill>
              <a:srgbClr val="5C4B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2344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16916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Брифінг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19456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637A"/>
                </a:solidFill>
              </a:rPr>
              <a:t>Пояснення правил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637A"/>
                </a:solidFill>
              </a:rPr>
              <a:t>та цілей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74520" y="2103120"/>
            <a:ext cx="137160" cy="0"/>
          </a:xfrm>
          <a:prstGeom prst="line">
            <a:avLst/>
          </a:prstGeom>
          <a:noFill/>
          <a:ln w="12700">
            <a:solidFill>
              <a:srgbClr val="6463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11680" y="1188720"/>
            <a:ext cx="1600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011680" y="1188720"/>
            <a:ext cx="1600200" cy="4114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011680" y="12344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03120" y="16916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Вправи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219456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637A"/>
                </a:solidFill>
              </a:rPr>
              <a:t>Групові, рольові,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637A"/>
                </a:solidFill>
              </a:rPr>
              <a:t>кейсові завдання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11880" y="2103120"/>
            <a:ext cx="137160" cy="0"/>
          </a:xfrm>
          <a:prstGeom prst="line">
            <a:avLst/>
          </a:prstGeom>
          <a:noFill/>
          <a:ln w="12700">
            <a:solidFill>
              <a:srgbClr val="6463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749040" y="1188720"/>
            <a:ext cx="1600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749040" y="1188720"/>
            <a:ext cx="1600200" cy="41148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749040" y="12344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40480" y="16916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Спостере-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ження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219456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637A"/>
                </a:solidFill>
              </a:rPr>
              <a:t>Фіксація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637A"/>
                </a:solidFill>
              </a:rPr>
              <a:t>поведінки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49240" y="2103120"/>
            <a:ext cx="137160" cy="0"/>
          </a:xfrm>
          <a:prstGeom prst="line">
            <a:avLst/>
          </a:prstGeom>
          <a:noFill/>
          <a:ln w="12700">
            <a:solidFill>
              <a:srgbClr val="6463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86400" y="1188720"/>
            <a:ext cx="1600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0" y="1188720"/>
            <a:ext cx="1600200" cy="41148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0" y="12344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77840" y="16916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Інтеграція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77840" y="219456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637A"/>
                </a:solidFill>
              </a:rPr>
              <a:t>Сесія асесорів,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637A"/>
                </a:solidFill>
              </a:rPr>
              <a:t>калібрація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086600" y="2103120"/>
            <a:ext cx="137160" cy="0"/>
          </a:xfrm>
          <a:prstGeom prst="line">
            <a:avLst/>
          </a:prstGeom>
          <a:noFill/>
          <a:ln w="12700">
            <a:solidFill>
              <a:srgbClr val="6463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223760" y="1188720"/>
            <a:ext cx="1600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223760" y="1188720"/>
            <a:ext cx="1600200" cy="411480"/>
          </a:xfrm>
          <a:prstGeom prst="rect">
            <a:avLst/>
          </a:prstGeom>
          <a:solidFill>
            <a:srgbClr val="7B68C8"/>
          </a:solidFill>
          <a:ln w="12700">
            <a:solidFill>
              <a:srgbClr val="7B6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223760" y="12344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315200" y="16916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Feedback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0" y="219456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637A"/>
                </a:solidFill>
              </a:rPr>
              <a:t>Зворотний зв'язок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637A"/>
                </a:solidFill>
              </a:rPr>
              <a:t>учаснику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3246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Інструменти: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3611880"/>
            <a:ext cx="1965960" cy="6400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65760" y="36118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Групові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дискусії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514600" y="3611880"/>
            <a:ext cx="1965960" cy="640080"/>
          </a:xfrm>
          <a:prstGeom prst="rect">
            <a:avLst/>
          </a:prstGeom>
          <a:solidFill>
            <a:srgbClr val="5C4B9E"/>
          </a:solidFill>
          <a:ln w="12700">
            <a:solidFill>
              <a:srgbClr val="5C4B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514600" y="36118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Рольові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ігри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63440" y="3611880"/>
            <a:ext cx="1965960" cy="64008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663440" y="36118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In-basket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кейси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812280" y="3611880"/>
            <a:ext cx="1965960" cy="640080"/>
          </a:xfrm>
          <a:prstGeom prst="rect">
            <a:avLst/>
          </a:prstGeom>
          <a:solidFill>
            <a:srgbClr val="7B68C8"/>
          </a:solidFill>
          <a:ln w="12700">
            <a:solidFill>
              <a:srgbClr val="7B6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812280" y="36118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Поведінкове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інтерв'ю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5A30"/>
                </a:solidFill>
              </a:rPr>
              <a:t>Валідність асесменту: 0.65 (vs 0.38 для інтерв'ю) — найточніший метод оцінки.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D2D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1D9E75">
              <a:alpha val="20000"/>
            </a:srgbClr>
          </a:solidFill>
          <a:ln w="12700">
            <a:solidFill>
              <a:srgbClr val="1D9E7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1D9E75"/>
                </a:solidFill>
              </a:rPr>
              <a:t>МОДУЛЬ 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Системний розвиток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компетенцій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1828800" cy="3657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A9EC"/>
                </a:solidFill>
              </a:rPr>
              <a:t>ІПР · Вікно Джохарі · 70-20-10 · Зворотний зв'язок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463040" cy="256032"/>
          </a:xfrm>
          <a:prstGeom prst="roundRect">
            <a:avLst>
              <a:gd name="adj" fmla="val 25000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МОДУЛЬ 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Модель 70-20-10 та Вікно Джохарі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992624" cy="13716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02336" y="1298448"/>
            <a:ext cx="4919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70%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02336" y="1645920"/>
            <a:ext cx="4919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Досвід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97510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Нові завдання, проекти, ротація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58384" y="1234440"/>
            <a:ext cx="1426464" cy="1371600"/>
          </a:xfrm>
          <a:prstGeom prst="rect">
            <a:avLst/>
          </a:prstGeom>
          <a:solidFill>
            <a:srgbClr val="5C4B9E"/>
          </a:solidFill>
          <a:ln w="12700">
            <a:solidFill>
              <a:srgbClr val="5C4B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94960" y="1298448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20%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94960" y="1645920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Взаємодія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31536" y="1975104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Ментор, коуч, зворотний зв'язок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784848" y="1234440"/>
            <a:ext cx="713232" cy="137160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21424" y="129844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10%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21424" y="164592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Курси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2606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Вікно Джохарі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017520"/>
            <a:ext cx="1920240" cy="8229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3063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Відкрита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зона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4564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Знаю я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Знають інші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423160" y="3017520"/>
            <a:ext cx="1920240" cy="822960"/>
          </a:xfrm>
          <a:prstGeom prst="rect">
            <a:avLst/>
          </a:prstGeom>
          <a:solidFill>
            <a:srgbClr val="7B68C8"/>
          </a:solidFill>
          <a:ln w="12700">
            <a:solidFill>
              <a:srgbClr val="7B6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468880" y="3063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Сліпа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пляма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68880" y="34564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Не знаю я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Знають інші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023360"/>
            <a:ext cx="1920240" cy="822960"/>
          </a:xfrm>
          <a:prstGeom prst="rect">
            <a:avLst/>
          </a:prstGeom>
          <a:solidFill>
            <a:srgbClr val="64637A"/>
          </a:solidFill>
          <a:ln w="12700">
            <a:solidFill>
              <a:srgbClr val="6463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4069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Прихована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зона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44622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Знаю я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Не знають інші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423160" y="4023360"/>
            <a:ext cx="1920240" cy="82296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468880" y="4069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Невідоме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468880" y="44622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Не знає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ніхто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2606040"/>
            <a:ext cx="3931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46320" y="2606040"/>
            <a:ext cx="64008" cy="22860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10912" y="2697480"/>
            <a:ext cx="3675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SBI — зворотний зв'язок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10912" y="2953512"/>
            <a:ext cx="3675888" cy="1847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637A"/>
                </a:solidFill>
              </a:rPr>
              <a:t>Situation → Behavior → Impact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637A"/>
                </a:solidFill>
              </a:rPr>
              <a:t>Конкретно, своєчасно, поведінково — не оціночно.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D2D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BA7517">
              <a:alpha val="20000"/>
            </a:srgbClr>
          </a:solidFill>
          <a:ln w="12700">
            <a:solidFill>
              <a:srgbClr val="BA751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BA7517">
              <a:alpha val="15000"/>
            </a:srgbClr>
          </a:solidFill>
          <a:ln w="12700">
            <a:solidFill>
              <a:srgbClr val="BA7517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BA7517"/>
                </a:solidFill>
              </a:rPr>
              <a:t>МОДУЛЬ 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Інтеграція МК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в систему оплати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1828800" cy="36576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A9EC"/>
                </a:solidFill>
              </a:rPr>
              <a:t>Моделі 'Оплата за ефективність' і 'За компетентністю'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463040" cy="256032"/>
          </a:xfrm>
          <a:prstGeom prst="roundRect">
            <a:avLst>
              <a:gd name="adj" fmla="val 25000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МОДУЛЬ 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</a:rPr>
              <a:t>Дві моделі інтеграції компетенцій в оплату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3931920" cy="4572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11556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Оплата за ефективність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637A"/>
                </a:solidFill>
              </a:rPr>
              <a:t>Pay for Performance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0574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9E75"/>
                </a:solidFill>
              </a:rPr>
              <a:t>70%</a:t>
            </a:r>
            <a:r>
              <a:rPr lang="en-US" sz="1300" dirty="0">
                <a:solidFill>
                  <a:srgbClr val="1A1A2E"/>
                </a:solidFill>
              </a:rPr>
              <a:t> бонусу від KPI / цілей</a:t>
            </a:r>
            <a:r>
              <a:rPr lang="en-US" sz="13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BA7517"/>
                </a:solidFill>
              </a:rPr>
              <a:t>30%</a:t>
            </a:r>
            <a:r>
              <a:rPr lang="en-US" sz="1300" dirty="0">
                <a:solidFill>
                  <a:srgbClr val="1A1A2E"/>
                </a:solidFill>
              </a:rPr>
              <a:t> бонусу від компетенцій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9718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637A"/>
                </a:solidFill>
              </a:rPr>
              <a:t>Стимулює не лише ЩО, але й ЯК людина працює. Базова зарплата фіксована, компетенції впливають на бонус.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4023360" cy="45720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111556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Оплата за компетентність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6642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637A"/>
                </a:solidFill>
              </a:rPr>
              <a:t>Competency-based Pay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20299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A7517"/>
                </a:solidFill>
              </a:rPr>
              <a:t>→ </a:t>
            </a:r>
            <a:r>
              <a:rPr lang="en-US" sz="1100" dirty="0">
                <a:solidFill>
                  <a:srgbClr val="1A1A2E"/>
                </a:solidFill>
              </a:rPr>
              <a:t>Базова зарплата прив'язана до рівня компетенцій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53288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A7517"/>
                </a:solidFill>
              </a:rPr>
              <a:t>→ </a:t>
            </a:r>
            <a:r>
              <a:rPr lang="en-US" sz="1100" dirty="0">
                <a:solidFill>
                  <a:srgbClr val="1A1A2E"/>
                </a:solidFill>
              </a:rPr>
              <a:t>Вищий рівень → ширший salary range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303580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A7517"/>
                </a:solidFill>
              </a:rPr>
              <a:t>→ </a:t>
            </a:r>
            <a:r>
              <a:rPr lang="en-US" sz="1100" dirty="0">
                <a:solidFill>
                  <a:srgbClr val="1A1A2E"/>
                </a:solidFill>
              </a:rPr>
              <a:t>Ріст фінансово без зміни посади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35387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A7517"/>
                </a:solidFill>
              </a:rPr>
              <a:t>→ </a:t>
            </a:r>
            <a:r>
              <a:rPr lang="en-US" sz="1100" dirty="0">
                <a:solidFill>
                  <a:srgbClr val="1A1A2E"/>
                </a:solidFill>
              </a:rPr>
              <a:t>Прозорі критерії просування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D2D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D85A30">
              <a:alpha val="20000"/>
            </a:srgbClr>
          </a:solidFill>
          <a:ln w="12700">
            <a:solidFill>
              <a:srgbClr val="D85A3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D85A30">
              <a:alpha val="15000"/>
            </a:srgbClr>
          </a:solidFill>
          <a:ln w="12700">
            <a:solidFill>
              <a:srgbClr val="D85A3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D85A30"/>
                </a:solidFill>
              </a:rPr>
              <a:t>МОДУЛЬ 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Фактори успішного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впровадження МК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1828800" cy="36576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A9EC"/>
                </a:solidFill>
              </a:rPr>
              <a:t>Проблеми, фактори успіху та комунікація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463040" cy="256032"/>
          </a:xfrm>
          <a:prstGeom prst="roundRect">
            <a:avLst>
              <a:gd name="adj" fmla="val 25000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МОДУЛЬ 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</a:rPr>
              <a:t>Чому проєкти з МК провалюються — і як уникнути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85A30"/>
                </a:solidFill>
              </a:rPr>
              <a:t>Типові провали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5C4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591056"/>
            <a:ext cx="320040" cy="320040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591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554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Відірваність від бізнес-стратегії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5C4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212848"/>
            <a:ext cx="320040" cy="320040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2128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✕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217627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Занадто складна модель (30+ компетенцій)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752344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5C4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320040" cy="320040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834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✕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279806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Відсутність підтримки топ-менеджменту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374136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5C4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456432"/>
            <a:ext cx="320040" cy="320040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4564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✕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3419856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Впровадження «заради галочки»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995928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5C4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4078224"/>
            <a:ext cx="320040" cy="320040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40782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✕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404164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Менеджери не навчені вести розмови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1097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9E75"/>
                </a:solidFill>
              </a:rPr>
              <a:t>Фактори успіху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1508760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9FE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46320" y="1591056"/>
            <a:ext cx="320040" cy="32004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46320" y="1591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85232" y="1554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Проста модель: 7-12 компетенцій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2130552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9FE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846320" y="2212848"/>
            <a:ext cx="320040" cy="32004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46320" y="22128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85232" y="217627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Видима підтримка CEO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2752344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9FE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46320" y="2834640"/>
            <a:ext cx="320040" cy="32004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46320" y="2834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85232" y="279806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Пілот перед масштабуванням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3374136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9FE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846320" y="3456432"/>
            <a:ext cx="320040" cy="32004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46320" y="34564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85232" y="3419856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Навчання менеджерів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54880" y="3995928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9FE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846320" y="4078224"/>
            <a:ext cx="320040" cy="32004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46320" y="40782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85232" y="404164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Регулярний перегляд моделі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D2D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1D9E75">
              <a:alpha val="20000"/>
            </a:srgbClr>
          </a:solidFill>
          <a:ln w="12700">
            <a:solidFill>
              <a:srgbClr val="1D9E7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1D9E75"/>
                </a:solidFill>
              </a:rPr>
              <a:t>МОДУЛЬ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Автоматизація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управління компетенціями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1828800" cy="3657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A9EC"/>
                </a:solidFill>
              </a:rPr>
              <a:t>ШІ у рекрутингу, оцінці та розвитку персоналу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463040" cy="256032"/>
          </a:xfrm>
          <a:prstGeom prst="roundRect">
            <a:avLst>
              <a:gd name="adj" fmla="val 25000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МОДУЛЬ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2E"/>
                </a:solidFill>
              </a:rPr>
              <a:t>AI та цифрові інструменти управління компетенціями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4023360" cy="384048"/>
          </a:xfrm>
          <a:prstGeom prst="rect">
            <a:avLst/>
          </a:prstGeom>
          <a:solidFill>
            <a:srgbClr val="5C4B9E"/>
          </a:solidFill>
          <a:ln w="12700">
            <a:solidFill>
              <a:srgbClr val="5C4B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13385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Рекрутинг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4B9E"/>
                </a:solidFill>
              </a:rPr>
              <a:t>· </a:t>
            </a:r>
            <a:r>
              <a:rPr lang="en-US" sz="1100" dirty="0">
                <a:solidFill>
                  <a:srgbClr val="1A1A2E"/>
                </a:solidFill>
              </a:rPr>
              <a:t>Аналіз резюме за компетенціями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9385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4B9E"/>
                </a:solidFill>
              </a:rPr>
              <a:t>· </a:t>
            </a:r>
            <a:r>
              <a:rPr lang="en-US" sz="1100" dirty="0">
                <a:solidFill>
                  <a:srgbClr val="1A1A2E"/>
                </a:solidFill>
              </a:rPr>
              <a:t>AI-скрінінг кандидатів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4B9E"/>
                </a:solidFill>
              </a:rPr>
              <a:t>· </a:t>
            </a:r>
            <a:r>
              <a:rPr lang="en-US" sz="1100" dirty="0">
                <a:solidFill>
                  <a:srgbClr val="1A1A2E"/>
                </a:solidFill>
              </a:rPr>
              <a:t>Чат-боти для першого контакту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09728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09160" y="1097280"/>
            <a:ext cx="4023360" cy="38404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09160" y="113385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Оцінка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5727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</a:rPr>
              <a:t>· </a:t>
            </a:r>
            <a:r>
              <a:rPr lang="en-US" sz="1100" dirty="0">
                <a:solidFill>
                  <a:srgbClr val="1A1A2E"/>
                </a:solidFill>
              </a:rPr>
              <a:t>Відеоінтерв'ю + аналіз поведінки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9385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</a:rPr>
              <a:t>· </a:t>
            </a:r>
            <a:r>
              <a:rPr lang="en-US" sz="1100" dirty="0">
                <a:solidFill>
                  <a:srgbClr val="1A1A2E"/>
                </a:solidFill>
              </a:rPr>
              <a:t>Автоматичні 360° опитування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3042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</a:rPr>
              <a:t>· </a:t>
            </a:r>
            <a:r>
              <a:rPr lang="en-US" sz="1100" dirty="0">
                <a:solidFill>
                  <a:srgbClr val="1A1A2E"/>
                </a:solidFill>
              </a:rPr>
              <a:t>Предиктивна аналітика успіху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01752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4023360" cy="38404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305409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Розвиток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34930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5A30"/>
                </a:solidFill>
              </a:rPr>
              <a:t>· </a:t>
            </a:r>
            <a:r>
              <a:rPr lang="en-US" sz="1100" dirty="0">
                <a:solidFill>
                  <a:srgbClr val="1A1A2E"/>
                </a:solidFill>
              </a:rPr>
              <a:t>Персоналізовані навчальні шляхи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38587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5A30"/>
                </a:solidFill>
              </a:rPr>
              <a:t>· </a:t>
            </a:r>
            <a:r>
              <a:rPr lang="en-US" sz="1100" dirty="0">
                <a:solidFill>
                  <a:srgbClr val="1A1A2E"/>
                </a:solidFill>
              </a:rPr>
              <a:t>Рекомендації контенту по ІПР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2245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5A30"/>
                </a:solidFill>
              </a:rPr>
              <a:t>· </a:t>
            </a:r>
            <a:r>
              <a:rPr lang="en-US" sz="1100" dirty="0">
                <a:solidFill>
                  <a:srgbClr val="1A1A2E"/>
                </a:solidFill>
              </a:rPr>
              <a:t>Трекінг прогресу в реальному часі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01752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3017520"/>
            <a:ext cx="4023360" cy="38404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09160" y="305409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Аналітика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34930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A7517"/>
                </a:solidFill>
              </a:rPr>
              <a:t>· </a:t>
            </a:r>
            <a:r>
              <a:rPr lang="en-US" sz="1100" dirty="0">
                <a:solidFill>
                  <a:srgbClr val="1A1A2E"/>
                </a:solidFill>
              </a:rPr>
              <a:t>HR-дашборди по компетенціях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38587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A7517"/>
                </a:solidFill>
              </a:rPr>
              <a:t>· </a:t>
            </a:r>
            <a:r>
              <a:rPr lang="en-US" sz="1100" dirty="0">
                <a:solidFill>
                  <a:srgbClr val="1A1A2E"/>
                </a:solidFill>
              </a:rPr>
              <a:t>Gap-аналіз на рівні команди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42245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A7517"/>
                </a:solidFill>
              </a:rPr>
              <a:t>· </a:t>
            </a:r>
            <a:r>
              <a:rPr lang="en-US" sz="1100" dirty="0">
                <a:solidFill>
                  <a:srgbClr val="1A1A2E"/>
                </a:solidFill>
              </a:rPr>
              <a:t>Планування наступництва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2D2D5E">
              <a:alpha val="40000"/>
            </a:srgbClr>
          </a:solidFill>
          <a:ln w="12700">
            <a:solidFill>
              <a:srgbClr val="2D2D5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5C4B9E">
              <a:alpha val="30000"/>
            </a:srgbClr>
          </a:solidFill>
          <a:ln w="12700">
            <a:solidFill>
              <a:srgbClr val="5C4B9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Курс завершено!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743200" cy="36576"/>
          </a:xfrm>
          <a:prstGeom prst="rect">
            <a:avLst/>
          </a:prstGeom>
          <a:solidFill>
            <a:srgbClr val="7B68C8"/>
          </a:solidFill>
          <a:ln w="12700">
            <a:solidFill>
              <a:srgbClr val="7B6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45720" cy="685800"/>
          </a:xfrm>
          <a:prstGeom prst="rect">
            <a:avLst/>
          </a:prstGeom>
          <a:solidFill>
            <a:srgbClr val="5C4B9E"/>
          </a:solidFill>
          <a:ln w="12700">
            <a:solidFill>
              <a:srgbClr val="5C4B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86537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Модель компетенцій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1579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A9EC"/>
                </a:solidFill>
              </a:rPr>
              <a:t>Структура, рівні, поведінкові індикатори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828800"/>
            <a:ext cx="45720" cy="6858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86537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Спіральна динаміка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21579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A9EC"/>
                </a:solidFill>
              </a:rPr>
              <a:t>Визначення культури та цільової МК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788920"/>
            <a:ext cx="45720" cy="68580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282549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STAR / CAR / 360°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31181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A9EC"/>
                </a:solidFill>
              </a:rPr>
              <a:t>Інструменти оцінки поведінки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2788920"/>
            <a:ext cx="45720" cy="68580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82549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Асесмент центр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1181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A9EC"/>
                </a:solidFill>
              </a:rPr>
              <a:t>Комплексна оцінка через симуляції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749040"/>
            <a:ext cx="45720" cy="685800"/>
          </a:xfrm>
          <a:prstGeom prst="rect">
            <a:avLst/>
          </a:prstGeom>
          <a:solidFill>
            <a:srgbClr val="7B68C8"/>
          </a:solidFill>
          <a:ln w="12700">
            <a:solidFill>
              <a:srgbClr val="7B6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" y="37856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ІПР та 70-20-10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0782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A9EC"/>
                </a:solidFill>
              </a:rPr>
              <a:t>Системний розвиток компетенцій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3749040"/>
            <a:ext cx="45720" cy="6858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37760" y="37856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Оплата та автоматизація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40782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A9EC"/>
                </a:solidFill>
              </a:rPr>
              <a:t>Інтеграція МК у компанії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" y="4709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637A"/>
                </a:solidFill>
              </a:rPr>
              <a:t>Успіхів у впровадженні системи компетенцій у вашій організації!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2520</TotalTime>
  <Words>995</Words>
  <Application>Microsoft Office PowerPoint</Application>
  <PresentationFormat>Екран (16:9)</PresentationFormat>
  <Paragraphs>355</Paragraphs>
  <Slides>25</Slides>
  <Notes>25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25</vt:i4>
      </vt:variant>
    </vt:vector>
  </HeadingPairs>
  <TitlesOfParts>
    <vt:vector size="27" baseType="lpstr">
      <vt:lpstr>Arial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Модель компетенцій — повний курс</dc:title>
  <dc:subject>PptxGenJS Presentation</dc:subject>
  <dc:creator>Irina Derevianchenko</dc:creator>
  <cp:lastModifiedBy>Irina Derevianchenko</cp:lastModifiedBy>
  <cp:revision>3</cp:revision>
  <dcterms:created xsi:type="dcterms:W3CDTF">2026-04-12T20:03:07Z</dcterms:created>
  <dcterms:modified xsi:type="dcterms:W3CDTF">2026-04-14T14:08:06Z</dcterms:modified>
</cp:coreProperties>
</file>